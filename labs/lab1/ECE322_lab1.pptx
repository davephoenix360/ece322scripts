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86" r:id="rId2"/>
    <p:sldId id="305" r:id="rId3"/>
    <p:sldId id="307" r:id="rId4"/>
    <p:sldId id="306" r:id="rId5"/>
    <p:sldId id="259" r:id="rId6"/>
    <p:sldId id="260" r:id="rId7"/>
    <p:sldId id="261" r:id="rId8"/>
    <p:sldId id="262" r:id="rId9"/>
    <p:sldId id="263" r:id="rId10"/>
    <p:sldId id="308" r:id="rId11"/>
    <p:sldId id="264" r:id="rId12"/>
    <p:sldId id="265" r:id="rId13"/>
    <p:sldId id="266" r:id="rId14"/>
    <p:sldId id="267" r:id="rId15"/>
    <p:sldId id="309" r:id="rId16"/>
    <p:sldId id="310" r:id="rId17"/>
    <p:sldId id="268" r:id="rId18"/>
    <p:sldId id="269" r:id="rId19"/>
    <p:sldId id="270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D38"/>
    <a:srgbClr val="F2CD00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1"/>
    <p:restoredTop sz="96320"/>
  </p:normalViewPr>
  <p:slideViewPr>
    <p:cSldViewPr snapToGrid="0" snapToObjects="1">
      <p:cViewPr varScale="1">
        <p:scale>
          <a:sx n="113" d="100"/>
          <a:sy n="113" d="100"/>
        </p:scale>
        <p:origin x="102" y="4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DA4FB-FF3E-B74F-8D8A-02FBFF691736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BEA57-B478-A244-8045-469284E4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F52686-6430-0B44-84C4-7041661DE13C}"/>
              </a:ext>
            </a:extLst>
          </p:cNvPr>
          <p:cNvSpPr/>
          <p:nvPr userDrawn="1"/>
        </p:nvSpPr>
        <p:spPr>
          <a:xfrm>
            <a:off x="6087376" y="0"/>
            <a:ext cx="6104623" cy="68580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89EAE0D-5D30-814F-B7A6-7C8BD2DE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29" y="2566609"/>
            <a:ext cx="5410279" cy="141269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825FBE8-D501-F049-BB8C-2749379953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9995" y="794695"/>
            <a:ext cx="5079387" cy="53463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62880B-DFD3-D64C-92C3-67B32FFB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12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8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9D906D3-8B7E-1149-8B20-A66E908F1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089073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94D23AA6-1750-3D47-9E0A-6A94907D6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874" y="2621371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00DFB4-9F59-7747-AA09-5658FC269E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7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DD3DC5E-BB1F-CC49-8A6A-15B7AA0596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457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E6B1A-8D98-FD42-A4CA-51E78A48F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87724"/>
            <a:ext cx="2407631" cy="652067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920B4C46-B53F-D041-9D91-C4F5B83BC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110" y="5024533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275D3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012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27D8E9-644D-9348-AE09-62079C534D98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4B75D-85A6-A440-A2A4-6BE8238D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ED9667-564A-9D42-B035-C9F464343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B782E-AFC9-E44D-BC30-747F09DD17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F5E64-4170-A048-B967-058F83A1D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2586-8877-EF4C-B528-8425113CEA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6ADF0-4FA1-534E-AE2E-0BA9A26A6007}"/>
              </a:ext>
            </a:extLst>
          </p:cNvPr>
          <p:cNvSpPr/>
          <p:nvPr userDrawn="1"/>
        </p:nvSpPr>
        <p:spPr>
          <a:xfrm>
            <a:off x="-12086" y="0"/>
            <a:ext cx="1220408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B62A6C-FCD9-F348-BC39-AC4EDF3EDF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525" y="1965324"/>
            <a:ext cx="11410883" cy="4194175"/>
          </a:xfrm>
        </p:spPr>
        <p:txBody>
          <a:bodyPr wrap="square"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B36EC-AE6D-7B4C-9149-E278D2EE2F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F6D64-6CA8-4E46-8078-EB7559BEAD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C3E2-7AE8-8347-8C47-1414C00CC4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5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81B8BA2-1F4B-E349-8B72-C54B05538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2" y="1074258"/>
            <a:ext cx="11410816" cy="70258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400"/>
              </a:spcBef>
              <a:buNone/>
              <a:defRPr sz="54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Your 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CEDB-D656-694C-BA91-65ADFC3D28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6AD3-74BC-6A46-8208-E4646CF992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DF7E4-AB1D-AB4F-9EB2-C891920D026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2D10FC0-70CD-F04F-8870-C9881614C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2340855"/>
            <a:ext cx="11410818" cy="338453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199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6EDDE9-0D4B-A044-A12C-1688B006ED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17;p4">
            <a:extLst>
              <a:ext uri="{FF2B5EF4-FFF2-40B4-BE49-F238E27FC236}">
                <a16:creationId xmlns:a16="http://schemas.microsoft.com/office/drawing/2014/main" id="{9E787EB5-1C41-A34E-8CF2-43A8EB8350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EB020-6420-494B-95DB-E9AD8CE0C60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E9E22-20D4-F140-900D-D0C4110480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52ABC-BFE4-4D47-9151-B99D1850F3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20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4BE29-637A-8249-853A-17D0176371B3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;p4">
            <a:extLst>
              <a:ext uri="{FF2B5EF4-FFF2-40B4-BE49-F238E27FC236}">
                <a16:creationId xmlns:a16="http://schemas.microsoft.com/office/drawing/2014/main" id="{7745FA55-A17E-1442-B82C-EB919EC712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5C67B29-3361-7044-B10F-1D2880365E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60203-9422-4A4A-83AE-9349F36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31723-859E-6A40-B89A-CAD5E47EDE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3134F-C888-DF45-9DC4-837B891207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4BE0-5C54-8543-A526-3B18831952A1}"/>
              </a:ext>
            </a:extLst>
          </p:cNvPr>
          <p:cNvSpPr/>
          <p:nvPr userDrawn="1"/>
        </p:nvSpPr>
        <p:spPr>
          <a:xfrm>
            <a:off x="6096000" y="0"/>
            <a:ext cx="61046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CA2EC1B-7F3B-E243-B93A-718697521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A4C0F9C-1D5F-D14A-89EC-85CD141784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5960" y="1579417"/>
            <a:ext cx="4178176" cy="3875810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 sz="3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Your Text Goes Here</a:t>
            </a:r>
          </a:p>
          <a:p>
            <a:pPr lvl="0"/>
            <a:r>
              <a:rPr lang="en-US" dirty="0"/>
              <a:t>Your Text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15F37-35F6-DA4E-9480-0E302143DA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362A8-AC39-A24B-A550-5B87DC5173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9496-36B1-9A4E-9804-213B9A36F7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2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53EC0B4-9DD0-3E42-8433-7FF2BCEBE109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/>
          <a:p>
            <a:r>
              <a:rPr lang="en-US" dirty="0"/>
              <a:t>Click icon to insert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9F9ECB-E455-B648-BC28-63F9169F62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198B815-91E0-F54F-8DBF-E1E115486F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77A3A9-C12D-DA40-8219-2377C49874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0096DC-00BB-7144-8688-CF3D555BA4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D5752F-93E8-5640-B649-2F69D4E4B4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</p:spTree>
    <p:extLst>
      <p:ext uri="{BB962C8B-B14F-4D97-AF65-F5344CB8AC3E}">
        <p14:creationId xmlns:p14="http://schemas.microsoft.com/office/powerpoint/2010/main" val="150778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DBDA81E4-D819-194B-A845-51E77961E251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insert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6B907DA-D648-3848-B281-CF9A84B4C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333AAA-2953-3E42-89E5-E6D6786DA5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6E9AE-1B93-944F-94E9-92B7D2B39F3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558C-3CFE-9F45-8C8F-90D0362E71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AD6E-366B-1E4E-B7F4-DD7B00DDA4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1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962DB7E-0883-7945-8AA8-880B377F4D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1120" y="1608138"/>
            <a:ext cx="3557298" cy="33276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30FD155-F064-E242-90C2-6F80336985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7875" y="1608138"/>
            <a:ext cx="5322888" cy="416877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D51F88-AA70-F347-9489-C2435C814DE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F34C8B-A24B-834E-97B0-23FD1B54B1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AD62E2-152C-CC4F-89F0-606EC63B9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7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599170"/>
            <a:ext cx="11516592" cy="1325563"/>
          </a:xfrm>
        </p:spPr>
        <p:txBody>
          <a:bodyPr>
            <a:noAutofit/>
          </a:bodyPr>
          <a:lstStyle>
            <a:lvl1pPr>
              <a:defRPr sz="89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903685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630343"/>
            <a:ext cx="9137073" cy="1325563"/>
          </a:xfrm>
        </p:spPr>
        <p:txBody>
          <a:bodyPr>
            <a:noAutofit/>
          </a:bodyPr>
          <a:lstStyle>
            <a:lvl1pPr>
              <a:defRPr sz="72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48072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A413-3734-3C4C-B113-2BB989517A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06804"/>
            <a:ext cx="2407631" cy="6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555AB-A659-BD40-978B-F47AA54B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91" y="365125"/>
            <a:ext cx="11410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CE43-AFF8-8A43-98D1-00F3E9F4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91" y="1825625"/>
            <a:ext cx="114134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1EAD-ACA1-FE47-A8A5-C7966E097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05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535BD11-B08F-2E4E-8A2A-C0A6527C5A21}" type="datetime1">
              <a:rPr lang="en-CA" smtClean="0"/>
              <a:t>2025-09-13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E2DD-2D19-1640-A6B3-94C55C6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35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D2B5-C3DE-A045-A1E5-C92623BB7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8009" y="6356350"/>
            <a:ext cx="297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6" r:id="rId4"/>
    <p:sldLayoutId id="2147483657" r:id="rId5"/>
    <p:sldLayoutId id="2147483663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6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yuyao16@ualberta.ca" TargetMode="External"/><Relationship Id="rId2" Type="http://schemas.openxmlformats.org/officeDocument/2006/relationships/hyperlink" Target="mailto:rsun11@ualberta.ca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hyperlink" Target="mailto:yfeng3@ualberta.ca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97C-96FF-B44A-9822-1524585B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9" y="509209"/>
            <a:ext cx="5410279" cy="1412694"/>
          </a:xfrm>
        </p:spPr>
        <p:txBody>
          <a:bodyPr/>
          <a:lstStyle/>
          <a:p>
            <a:r>
              <a:rPr lang="en-US" sz="4000" dirty="0">
                <a:solidFill>
                  <a:srgbClr val="FFEB3B"/>
                </a:solidFill>
              </a:rPr>
              <a:t>ECE 322 LAB 1</a:t>
            </a:r>
            <a:br>
              <a:rPr lang="en-US" sz="4000" dirty="0">
                <a:solidFill>
                  <a:srgbClr val="FFEB3B"/>
                </a:solidFill>
              </a:rPr>
            </a:br>
            <a:r>
              <a:rPr lang="en-US" sz="4000" dirty="0">
                <a:solidFill>
                  <a:srgbClr val="FFEB3B"/>
                </a:solidFill>
              </a:rPr>
              <a:t>SOFTWARE TESTING METHODOLOGIES</a:t>
            </a:r>
            <a:endParaRPr lang="en-US" sz="4000" dirty="0"/>
          </a:p>
        </p:txBody>
      </p:sp>
      <p:pic>
        <p:nvPicPr>
          <p:cNvPr id="17" name="Picture 16" descr="Shape, polygon&#10;&#10;Description automatically generated">
            <a:extLst>
              <a:ext uri="{FF2B5EF4-FFF2-40B4-BE49-F238E27FC236}">
                <a16:creationId xmlns:a16="http://schemas.microsoft.com/office/drawing/2014/main" id="{558997A6-92B6-FE40-B4A7-0D227FF6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987" y="1152056"/>
            <a:ext cx="4460026" cy="468443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F7BA19B-14E9-23A9-4DE3-C670C805D058}"/>
              </a:ext>
            </a:extLst>
          </p:cNvPr>
          <p:cNvSpPr txBox="1">
            <a:spLocks/>
          </p:cNvSpPr>
          <p:nvPr/>
        </p:nvSpPr>
        <p:spPr>
          <a:xfrm>
            <a:off x="408629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Author: Avik Mandal</a:t>
            </a:r>
          </a:p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Modified by: Yuan Feng</a:t>
            </a:r>
          </a:p>
        </p:txBody>
      </p:sp>
    </p:spTree>
    <p:extLst>
      <p:ext uri="{BB962C8B-B14F-4D97-AF65-F5344CB8AC3E}">
        <p14:creationId xmlns:p14="http://schemas.microsoft.com/office/powerpoint/2010/main" val="24798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F146-09BD-9A4C-AF70-6F99A92E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2116-578D-3947-8E60-D9AF5D6E5A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Canvas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Lab Safety: Lab 0 (Complete lab safety quiz)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Office hours: Timings displayed on </a:t>
            </a:r>
            <a:r>
              <a:rPr lang="en-US" dirty="0" err="1">
                <a:solidFill>
                  <a:schemeClr val="tx2"/>
                </a:solidFill>
              </a:rPr>
              <a:t>eClass</a:t>
            </a:r>
            <a:endParaRPr lang="en-US" dirty="0">
              <a:solidFill>
                <a:schemeClr val="tx2"/>
              </a:solidFill>
            </a:endParaRP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Lab Reports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Introduction to Software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What is Black-Box Testing?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Black-Box Testing Techniques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Failure Testing / Dirty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Error Guessing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Partition-Based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Equivalence Partitioning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Boundary Value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A5355-0E3F-D942-B635-91942D1AE5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9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AE83-A334-CE63-E8EF-B52A210F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4D10-28BE-3322-9D0F-513F8747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574E7-951C-6608-2E9A-3C827494C6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7525808" cy="4194175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tx2"/>
                </a:solidFill>
              </a:rPr>
              <a:t>This is the first year for Canvas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tx2"/>
                </a:solidFill>
              </a:rPr>
              <a:t>Please let us know if you notice any issue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EB767-7669-57F2-AD40-B6E42B35FA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5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ED78A-03DB-E504-D684-CC4399A2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C784-9BFE-151E-E764-39BDF0F2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8E25-EA12-C448-03C6-A4603FA878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4799542" cy="4194175"/>
          </a:xfrm>
        </p:spPr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sz="2400">
                <a:solidFill>
                  <a:schemeClr val="tx2"/>
                </a:solidFill>
              </a:rPr>
              <a:t>Complete lab safety quiz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78A04-F329-DD5F-802E-2E15AF2222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547A1-07F8-AD98-A859-E31D5BC6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14" y="2280259"/>
            <a:ext cx="6076325" cy="34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3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Office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[TBD]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Lab Team: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Roy Sun (</a:t>
            </a:r>
            <a:r>
              <a:rPr lang="en-US" sz="18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rsun11@ualberta.ca</a:t>
            </a:r>
            <a:r>
              <a:rPr lang="en-US" sz="1800" dirty="0">
                <a:solidFill>
                  <a:schemeClr val="tx2"/>
                </a:solidFill>
              </a:rPr>
              <a:t>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lang="nl-NL" sz="1800" dirty="0">
                <a:solidFill>
                  <a:schemeClr val="tx2"/>
                </a:solidFill>
              </a:rPr>
              <a:t>Yuyao Wang (</a:t>
            </a:r>
            <a:r>
              <a:rPr lang="nl-NL" sz="18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yuyao16@ualberta.ca</a:t>
            </a:r>
            <a:r>
              <a:rPr lang="nl-NL" sz="1800" dirty="0">
                <a:solidFill>
                  <a:schemeClr val="tx2"/>
                </a:solidFill>
              </a:rPr>
              <a:t>)</a:t>
            </a:r>
          </a:p>
          <a:p>
            <a:pPr lvl="1">
              <a:defRPr sz="1800">
                <a:solidFill>
                  <a:srgbClr val="FFFFFF"/>
                </a:solidFill>
              </a:defRPr>
            </a:pPr>
            <a:r>
              <a:rPr lang="nb-NO" sz="1800" dirty="0">
                <a:solidFill>
                  <a:schemeClr val="tx2"/>
                </a:solidFill>
              </a:rPr>
              <a:t>Yuan Feng (</a:t>
            </a:r>
            <a:r>
              <a:rPr lang="nb-NO" sz="1800" dirty="0">
                <a:solidFill>
                  <a:schemeClr val="tx2"/>
                </a:solidFill>
                <a:hlinkClick r:id="rId4"/>
              </a:rPr>
              <a:t>yfeng3@ualberta.ca</a:t>
            </a:r>
            <a:r>
              <a:rPr lang="nb-NO" sz="1800" dirty="0">
                <a:solidFill>
                  <a:schemeClr val="tx2"/>
                </a:solidFill>
              </a:rPr>
              <a:t>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Office Hours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Office hours online via Zoom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Links available on </a:t>
            </a:r>
            <a:r>
              <a:rPr dirty="0" err="1">
                <a:solidFill>
                  <a:schemeClr val="tx2"/>
                </a:solidFill>
              </a:rPr>
              <a:t>eClass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C7967A-E1BC-80C6-0F99-736775EF9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288" y="3429000"/>
            <a:ext cx="2867025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Lab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One report for each lab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Submit</a:t>
            </a:r>
            <a:r>
              <a:rPr lang="en-US" dirty="0">
                <a:solidFill>
                  <a:schemeClr val="tx2"/>
                </a:solidFill>
              </a:rPr>
              <a:t> via Canvas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Last report will have a shorter due date (university grading requirement)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23EEFB-B010-1FD6-A6D7-06857501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2791"/>
            <a:ext cx="12192000" cy="53052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Black-Box Testing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functionalities without internal knowledge.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Convert requirements to list of functions.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Provide inputs and verify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F98CB-896E-3D7A-4136-8EA17F7EC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325"/>
            <a:ext cx="12192000" cy="4370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Black-Box Testing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Detects performance, usability, functionality errors.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User-centric: simulates real use.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No code knowledge required.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Scales well for large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419740-5CFB-7D92-FC11-0389852A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331"/>
            <a:ext cx="12192000" cy="48315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AC0C-F8FE-DC4D-5C1D-19CEC3B4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EEB3-8F8C-FC6B-3484-21610B37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Black-Box Testing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C4ED-C2CD-57EA-5684-CE9B586219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Detects performance, usability, functionality errors.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User-centric: simulates real use.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No code knowledge required.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Scales well for large systems.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4953-CA90-F2A4-E857-1FE77A6FB6BA}"/>
              </a:ext>
            </a:extLst>
          </p:cNvPr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90566-FABD-F897-890E-49851D11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74" y="1754903"/>
            <a:ext cx="11422069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9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Failure or Dirty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Test all possible inputs/actions to break the software.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Think creatively and diabolically.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Examples: Divide by zero, wrong input type, missing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3A2-613D-C13E-C5AC-4F7B2912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6544"/>
            <a:ext cx="12192000" cy="45528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Error Guessing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Based on tester experience and intuition.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Guess error-prone areas from common mistakes.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Examples: rounding errors, invalid input formats.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F8411-8110-FFD8-EEBA-469840E69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" y="1699999"/>
            <a:ext cx="12192000" cy="4609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Partition-Based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Group inputs by expected behavior.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Reduce test cases by testing equivalent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Maximize coverage with minimal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22793-12C6-2BA0-42D3-C218541CA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7041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Equivalence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Example: Positive, negative, zero integers.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AFF356-648D-5501-137D-8DB3FF792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4371"/>
            <a:ext cx="12192000" cy="48419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FDF3-69F7-360E-4A2D-F8D810D4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C41F-EFDC-B70A-CF51-B685986A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Equivalence Partitioning</a:t>
            </a:r>
            <a:r>
              <a:rPr lang="en-US" dirty="0"/>
              <a:t>: Example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FE72D-F073-591C-7DE3-9679DB7335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7C01F-9335-02A5-D12F-298D1FE8BE5A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3DF74F-C4C1-3525-7E44-FE4124D7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" y="1501198"/>
            <a:ext cx="12192000" cy="51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62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33EA-8A21-B11F-3E58-1FE4188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330D-C982-A112-E6D3-2694F1CF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Equivalence Partitioning</a:t>
            </a:r>
            <a:r>
              <a:rPr lang="en-US" dirty="0"/>
              <a:t>: Example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B988-F118-0D5E-EA79-E8F2FA1C37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9F8FE-C95F-4E12-F5C5-0B63D13E08A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124755-4BEA-0342-94A0-F61CC6DFF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840"/>
            <a:ext cx="12192000" cy="471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39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Valid vs Invalid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Valid: Inputs within expected range, correct behavior.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Invalid: Inputs outside range, may cause errors.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59804-88DE-41D3-BCC4-E255AEA99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" y="1690688"/>
            <a:ext cx="12192000" cy="407195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Boundary Value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Test at input boundaries where behavior changes.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Check min/max values of partitions.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Example: Test 0, 1, and large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47D343-8C4A-7A9F-EBA4-5E0B24F7F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6546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Boundary Value Analysis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Registration form age input: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Valid range: 18–60.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Boundary tests: 17 (invalid), 18 (valid), 60 (valid), 61 (invalid).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2F2F4-BA7A-0D3A-53B4-558C701A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" y="1757134"/>
            <a:ext cx="12192000" cy="33437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237852-1560-7A1C-A03F-5CD74193A98A}"/>
              </a:ext>
            </a:extLst>
          </p:cNvPr>
          <p:cNvSpPr txBox="1">
            <a:spLocks/>
          </p:cNvSpPr>
          <p:nvPr/>
        </p:nvSpPr>
        <p:spPr>
          <a:xfrm>
            <a:off x="4210163" y="2549676"/>
            <a:ext cx="5410279" cy="14126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6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sz="4800" dirty="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92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 Palette">
      <a:dk1>
        <a:srgbClr val="000000"/>
      </a:dk1>
      <a:lt1>
        <a:srgbClr val="FFFFFF"/>
      </a:lt1>
      <a:dk2>
        <a:srgbClr val="275D37"/>
      </a:dk2>
      <a:lt2>
        <a:srgbClr val="F1CC00"/>
      </a:lt2>
      <a:accent1>
        <a:srgbClr val="F68D2E"/>
      </a:accent1>
      <a:accent2>
        <a:srgbClr val="E56954"/>
      </a:accent2>
      <a:accent3>
        <a:srgbClr val="C86BA8"/>
      </a:accent3>
      <a:accent4>
        <a:srgbClr val="007933"/>
      </a:accent4>
      <a:accent5>
        <a:srgbClr val="6CC249"/>
      </a:accent5>
      <a:accent6>
        <a:srgbClr val="6BBBAE"/>
      </a:accent6>
      <a:hlink>
        <a:srgbClr val="7BA3DB"/>
      </a:hlink>
      <a:folHlink>
        <a:srgbClr val="FFB6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499</Words>
  <Application>Microsoft Office PowerPoint</Application>
  <PresentationFormat>Widescreen</PresentationFormat>
  <Paragraphs>115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Roboto</vt:lpstr>
      <vt:lpstr>Roboto Light</vt:lpstr>
      <vt:lpstr>Office Theme</vt:lpstr>
      <vt:lpstr>ECE 322 LAB 1 SOFTWARE TESTING METHODOLOGIES</vt:lpstr>
      <vt:lpstr>Outline</vt:lpstr>
      <vt:lpstr>Canvas</vt:lpstr>
      <vt:lpstr>Lab Safety</vt:lpstr>
      <vt:lpstr>Office Hours</vt:lpstr>
      <vt:lpstr>Lab Reports</vt:lpstr>
      <vt:lpstr>Introduction to Software Testing</vt:lpstr>
      <vt:lpstr>Black-Box Testing Techniques</vt:lpstr>
      <vt:lpstr>Black-Box Testing Advantages</vt:lpstr>
      <vt:lpstr>Black-Box Testing Advantages</vt:lpstr>
      <vt:lpstr>Failure or Dirty Testing</vt:lpstr>
      <vt:lpstr>Error Guessing</vt:lpstr>
      <vt:lpstr>Partition-Based Testing</vt:lpstr>
      <vt:lpstr>Equivalence Partitioning</vt:lpstr>
      <vt:lpstr>Equivalence Partitioning: Example</vt:lpstr>
      <vt:lpstr>Equivalence Partitioning: Example</vt:lpstr>
      <vt:lpstr>Valid vs Invalid Equivalence</vt:lpstr>
      <vt:lpstr>Boundary Value Analysis</vt:lpstr>
      <vt:lpstr>Boundary Value Analysis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Microsoft Office User</dc:creator>
  <cp:lastModifiedBy>Yuan Feng</cp:lastModifiedBy>
  <cp:revision>98</cp:revision>
  <dcterms:created xsi:type="dcterms:W3CDTF">2021-08-27T13:13:24Z</dcterms:created>
  <dcterms:modified xsi:type="dcterms:W3CDTF">2025-09-13T17:30:32Z</dcterms:modified>
</cp:coreProperties>
</file>