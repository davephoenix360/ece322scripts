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sldIdLst>
    <p:sldId id="286" r:id="rId2"/>
    <p:sldId id="306" r:id="rId3"/>
    <p:sldId id="305" r:id="rId4"/>
    <p:sldId id="310" r:id="rId5"/>
    <p:sldId id="311" r:id="rId6"/>
    <p:sldId id="312" r:id="rId7"/>
    <p:sldId id="313" r:id="rId8"/>
    <p:sldId id="315" r:id="rId9"/>
    <p:sldId id="314" r:id="rId10"/>
    <p:sldId id="316" r:id="rId11"/>
    <p:sldId id="317" r:id="rId12"/>
    <p:sldId id="30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5D38"/>
    <a:srgbClr val="F2CD00"/>
    <a:srgbClr val="6CC2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3"/>
    <p:restoredTop sz="96260"/>
  </p:normalViewPr>
  <p:slideViewPr>
    <p:cSldViewPr snapToGrid="0" snapToObjects="1">
      <p:cViewPr varScale="1">
        <p:scale>
          <a:sx n="117" d="100"/>
          <a:sy n="117" d="100"/>
        </p:scale>
        <p:origin x="184" y="2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DA4FB-FF3E-B74F-8D8A-02FBFF691736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7BEA57-B478-A244-8045-469284E49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31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F52686-6430-0B44-84C4-7041661DE13C}"/>
              </a:ext>
            </a:extLst>
          </p:cNvPr>
          <p:cNvSpPr/>
          <p:nvPr userDrawn="1"/>
        </p:nvSpPr>
        <p:spPr>
          <a:xfrm>
            <a:off x="6087376" y="0"/>
            <a:ext cx="6104623" cy="6858000"/>
          </a:xfrm>
          <a:prstGeom prst="rect">
            <a:avLst/>
          </a:prstGeom>
          <a:solidFill>
            <a:srgbClr val="F2C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F89EAE0D-5D30-814F-B7A6-7C8BD2DE40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629" y="2566609"/>
            <a:ext cx="5410279" cy="1412694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85000"/>
              </a:lnSpc>
              <a:defRPr sz="5400" b="1" i="0" kern="0" cap="all" spc="-60" baseline="0">
                <a:solidFill>
                  <a:srgbClr val="F2CD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3825FBE8-D501-F049-BB8C-2749379953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99995" y="794695"/>
            <a:ext cx="5079387" cy="5346332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62880B-DFD3-D64C-92C3-67B32FFB0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312" y="5876636"/>
            <a:ext cx="2443706" cy="66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886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9D906D3-8B7E-1149-8B20-A66E908F15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6089073" cy="68580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94D23AA6-1750-3D47-9E0A-6A94907D69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8874" y="2621371"/>
            <a:ext cx="5410279" cy="161525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85000"/>
              </a:lnSpc>
              <a:defRPr sz="5400" b="1" i="0" kern="0" cap="all" spc="-60" baseline="0">
                <a:solidFill>
                  <a:srgbClr val="F2CD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00DFB4-9F59-7747-AA09-5658FC269E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34013" y="5876636"/>
            <a:ext cx="2443706" cy="66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397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2DD3DC5E-BB1F-CC49-8A6A-15B7AA0596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374573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3E6B1A-8D98-FD42-A4CA-51E78A48F3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30379" y="5987724"/>
            <a:ext cx="2407631" cy="652067"/>
          </a:xfrm>
          <a:prstGeom prst="rect">
            <a:avLst/>
          </a:prstGeom>
        </p:spPr>
      </p:pic>
      <p:sp>
        <p:nvSpPr>
          <p:cNvPr id="14" name="Title 4">
            <a:extLst>
              <a:ext uri="{FF2B5EF4-FFF2-40B4-BE49-F238E27FC236}">
                <a16:creationId xmlns:a16="http://schemas.microsoft.com/office/drawing/2014/main" id="{920B4C46-B53F-D041-9D91-C4F5B83BC2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5110" y="5024533"/>
            <a:ext cx="5410279" cy="161525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85000"/>
              </a:lnSpc>
              <a:defRPr sz="5400" b="1" i="0" kern="0" cap="all" spc="-60" baseline="0">
                <a:solidFill>
                  <a:srgbClr val="275D38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501246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827D8E9-644D-9348-AE09-62079C534D98}"/>
              </a:ext>
            </a:extLst>
          </p:cNvPr>
          <p:cNvSpPr/>
          <p:nvPr userDrawn="1"/>
        </p:nvSpPr>
        <p:spPr>
          <a:xfrm>
            <a:off x="0" y="0"/>
            <a:ext cx="12192000" cy="1485900"/>
          </a:xfrm>
          <a:prstGeom prst="rect">
            <a:avLst/>
          </a:prstGeom>
          <a:solidFill>
            <a:srgbClr val="F2C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C4B75D-85A6-A440-A2A4-6BE8238DC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EED9667-564A-9D42-B035-C9F46434330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1965325"/>
            <a:ext cx="11410818" cy="419417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CB782E-AFC9-E44D-BC30-747F09DD175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2025-10-06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8F5E64-4170-A048-B967-058F83A1D04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C2586-8877-EF4C-B528-8425113CEA5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89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46ADF0-4FA1-534E-AE2E-0BA9A26A6007}"/>
              </a:ext>
            </a:extLst>
          </p:cNvPr>
          <p:cNvSpPr/>
          <p:nvPr userDrawn="1"/>
        </p:nvSpPr>
        <p:spPr>
          <a:xfrm>
            <a:off x="-12086" y="0"/>
            <a:ext cx="1220408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DB62A6C-FCD9-F348-BC39-AC4EDF3EDF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0525" y="1965324"/>
            <a:ext cx="11410883" cy="4194175"/>
          </a:xfrm>
        </p:spPr>
        <p:txBody>
          <a:bodyPr wrap="square"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 i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8B36EC-AE6D-7B4C-9149-E278D2EE2F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2025-10-06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F6D64-6CA8-4E46-8078-EB7559BEADB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8C3E2-7AE8-8347-8C47-1414C00CC4C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355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D81B8BA2-1F4B-E349-8B72-C54B055380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92" y="1074258"/>
            <a:ext cx="11410816" cy="70258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spcBef>
                <a:spcPts val="400"/>
              </a:spcBef>
              <a:buNone/>
              <a:defRPr sz="5400" b="1" i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Your 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16CEDB-D656-694C-BA91-65ADFC3D288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2025-10-06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8F6AD3-74BC-6A46-8208-E4646CF992B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DF7E4-AB1D-AB4F-9EB2-C891920D026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2D10FC0-70CD-F04F-8870-C9881614CD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2340855"/>
            <a:ext cx="11410818" cy="338453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1199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96EDDE9-0D4B-A044-A12C-1688B006ED4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1965325"/>
            <a:ext cx="11410818" cy="419417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Google Shape;17;p4">
            <a:extLst>
              <a:ext uri="{FF2B5EF4-FFF2-40B4-BE49-F238E27FC236}">
                <a16:creationId xmlns:a16="http://schemas.microsoft.com/office/drawing/2014/main" id="{9E787EB5-1C41-A34E-8CF2-43A8EB83503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51487" y="556576"/>
            <a:ext cx="11449855" cy="76097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400" b="1" i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CA" dirty="0"/>
              <a:t>Your Title Here</a:t>
            </a:r>
            <a:endParaRPr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2EB020-6420-494B-95DB-E9AD8CE0C60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2025-10-06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AE9E22-20D4-F140-900D-D0C4110480B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52ABC-BFE4-4D47-9151-B99D1850F36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202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C4BE29-637A-8249-853A-17D0176371B3}"/>
              </a:ext>
            </a:extLst>
          </p:cNvPr>
          <p:cNvSpPr/>
          <p:nvPr userDrawn="1"/>
        </p:nvSpPr>
        <p:spPr>
          <a:xfrm>
            <a:off x="0" y="0"/>
            <a:ext cx="12192000" cy="14859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17;p4">
            <a:extLst>
              <a:ext uri="{FF2B5EF4-FFF2-40B4-BE49-F238E27FC236}">
                <a16:creationId xmlns:a16="http://schemas.microsoft.com/office/drawing/2014/main" id="{7745FA55-A17E-1442-B82C-EB919EC7125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51487" y="556576"/>
            <a:ext cx="11449855" cy="76097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400" b="1" i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CA" dirty="0"/>
              <a:t>Your Title Here</a:t>
            </a:r>
            <a:endParaRPr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5C67B29-3361-7044-B10F-1D2880365E0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1965325"/>
            <a:ext cx="11410818" cy="419417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060203-9422-4A4A-83AE-9349F36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2025-10-06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531723-859E-6A40-B89A-CAD5E47EDE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3134F-C888-DF45-9DC4-837B891207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947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A04BE0-5C54-8543-A526-3B18831952A1}"/>
              </a:ext>
            </a:extLst>
          </p:cNvPr>
          <p:cNvSpPr/>
          <p:nvPr userDrawn="1"/>
        </p:nvSpPr>
        <p:spPr>
          <a:xfrm>
            <a:off x="6096000" y="0"/>
            <a:ext cx="610462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CA2EC1B-7F3B-E243-B93A-7186975219C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600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A4C0F9C-1D5F-D14A-89EC-85CD141784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95960" y="1579417"/>
            <a:ext cx="4178176" cy="3875810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tabLst/>
              <a:defRPr sz="32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tabLst/>
              <a:defRPr/>
            </a:pPr>
            <a:r>
              <a:rPr lang="en-US" dirty="0"/>
              <a:t>Your Text Goes Here</a:t>
            </a:r>
          </a:p>
          <a:p>
            <a:pPr lvl="0"/>
            <a:r>
              <a:rPr lang="en-US" dirty="0"/>
              <a:t>Your Text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615F37-35F6-DA4E-9480-0E302143DAF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2025-10-06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362A8-AC39-A24B-A550-5B87DC5173A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C9496-36B1-9A4E-9804-213B9A36F7C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28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853EC0B4-9DD0-3E42-8433-7FF2BCEBE109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390591" y="1343279"/>
            <a:ext cx="11383897" cy="4183582"/>
          </a:xfrm>
        </p:spPr>
        <p:txBody>
          <a:bodyPr/>
          <a:lstStyle/>
          <a:p>
            <a:r>
              <a:rPr lang="en-US" dirty="0"/>
              <a:t>Click icon to insert chart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9F9ECB-E455-B648-BC28-63F9169F62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91" y="498930"/>
            <a:ext cx="11383897" cy="687387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Add chart title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198B815-91E0-F54F-8DBF-E1E115486F8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2025-10-06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D77A3A9-C12D-DA40-8219-2377C498740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B0096DC-00BB-7144-8688-CF3D555BA45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3D5752F-93E8-5640-B649-2F69D4E4B4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525" y="5688013"/>
            <a:ext cx="11410950" cy="3730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chart source text</a:t>
            </a:r>
          </a:p>
        </p:txBody>
      </p:sp>
    </p:spTree>
    <p:extLst>
      <p:ext uri="{BB962C8B-B14F-4D97-AF65-F5344CB8AC3E}">
        <p14:creationId xmlns:p14="http://schemas.microsoft.com/office/powerpoint/2010/main" val="1507784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hart Placeholder 2">
            <a:extLst>
              <a:ext uri="{FF2B5EF4-FFF2-40B4-BE49-F238E27FC236}">
                <a16:creationId xmlns:a16="http://schemas.microsoft.com/office/drawing/2014/main" id="{DBDA81E4-D819-194B-A845-51E77961E251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390591" y="1343279"/>
            <a:ext cx="11383897" cy="418358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insert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6B907DA-D648-3848-B281-CF9A84B4C7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91" y="498930"/>
            <a:ext cx="11383897" cy="687387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Add chart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2333AAA-2953-3E42-89E5-E6D6786DA5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525" y="5688013"/>
            <a:ext cx="11410950" cy="3730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chart source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96E9AE-1B93-944F-94E9-92B7D2B39F3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2025-10-06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6A558C-3CFE-9F45-8C8F-90D0362E71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BAD6E-366B-1E4E-B7F4-DD7B00DDA4C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019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3962DB7E-0883-7945-8AA8-880B377F4D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51120" y="1608138"/>
            <a:ext cx="3557298" cy="33276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30FD155-F064-E242-90C2-6F80336985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7875" y="1608138"/>
            <a:ext cx="5322888" cy="416877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800" b="1" i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D51F88-AA70-F347-9489-C2435C814DE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2025-10-06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F34C8B-A24B-834E-97B0-23FD1B54B1B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AD62E2-152C-CC4F-89F0-606EC63B930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78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mis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6A1FA5-02DD-3D41-8634-67C3FF493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34013" y="5876636"/>
            <a:ext cx="2443706" cy="661837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0132E0B-F5FA-A649-92CF-89A8BABC5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654" y="2599170"/>
            <a:ext cx="11516592" cy="1325563"/>
          </a:xfrm>
        </p:spPr>
        <p:txBody>
          <a:bodyPr>
            <a:noAutofit/>
          </a:bodyPr>
          <a:lstStyle>
            <a:lvl1pPr>
              <a:defRPr sz="8900" b="1" i="0" spc="-140" baseline="0">
                <a:solidFill>
                  <a:srgbClr val="F2CD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Leading with Purpose.</a:t>
            </a:r>
          </a:p>
        </p:txBody>
      </p:sp>
    </p:spTree>
    <p:extLst>
      <p:ext uri="{BB962C8B-B14F-4D97-AF65-F5344CB8AC3E}">
        <p14:creationId xmlns:p14="http://schemas.microsoft.com/office/powerpoint/2010/main" val="1903685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mis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6A1FA5-02DD-3D41-8634-67C3FF493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34013" y="5876636"/>
            <a:ext cx="2443706" cy="661837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0132E0B-F5FA-A649-92CF-89A8BABC5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654" y="2630343"/>
            <a:ext cx="9137073" cy="1325563"/>
          </a:xfrm>
        </p:spPr>
        <p:txBody>
          <a:bodyPr>
            <a:noAutofit/>
          </a:bodyPr>
          <a:lstStyle>
            <a:lvl1pPr>
              <a:defRPr sz="7200" b="1" i="0" spc="-140" baseline="0">
                <a:solidFill>
                  <a:srgbClr val="F2CD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Leading with Purpose.</a:t>
            </a:r>
          </a:p>
        </p:txBody>
      </p:sp>
    </p:spTree>
    <p:extLst>
      <p:ext uri="{BB962C8B-B14F-4D97-AF65-F5344CB8AC3E}">
        <p14:creationId xmlns:p14="http://schemas.microsoft.com/office/powerpoint/2010/main" val="1480720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58A413-3734-3C4C-B113-2BB989517A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30379" y="5906804"/>
            <a:ext cx="2407631" cy="65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0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861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555AB-A659-BD40-978B-F47AA54B1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91" y="365125"/>
            <a:ext cx="114108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DCE43-AFF8-8A43-98D1-00F3E9F42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0591" y="1825625"/>
            <a:ext cx="114134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81EAD-ACA1-FE47-A8A5-C7966E0979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059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1535BD11-B08F-2E4E-8A2A-C0A6527C5A21}" type="datetime1">
              <a:rPr lang="en-CA" smtClean="0"/>
              <a:t>2025-10-06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6E2DD-2D19-1640-A6B3-94C55C6DD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235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D2B5-C3DE-A045-A1E5-C92623BB74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28009" y="6356350"/>
            <a:ext cx="297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28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49" r:id="rId2"/>
    <p:sldLayoutId id="2147483650" r:id="rId3"/>
    <p:sldLayoutId id="2147483656" r:id="rId4"/>
    <p:sldLayoutId id="2147483657" r:id="rId5"/>
    <p:sldLayoutId id="2147483663" r:id="rId6"/>
    <p:sldLayoutId id="2147483659" r:id="rId7"/>
    <p:sldLayoutId id="2147483660" r:id="rId8"/>
    <p:sldLayoutId id="2147483661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70" r:id="rId15"/>
    <p:sldLayoutId id="2147483671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-60" baseline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597C-96FF-B44A-9822-1524585BE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629" y="509209"/>
            <a:ext cx="5410279" cy="1412694"/>
          </a:xfrm>
        </p:spPr>
        <p:txBody>
          <a:bodyPr/>
          <a:lstStyle/>
          <a:p>
            <a:r>
              <a:rPr lang="en-US" sz="4000" dirty="0">
                <a:solidFill>
                  <a:srgbClr val="FFEB3B"/>
                </a:solidFill>
              </a:rPr>
              <a:t>ECE 322 LAB 2</a:t>
            </a:r>
            <a:br>
              <a:rPr lang="en-US" sz="4000" dirty="0">
                <a:solidFill>
                  <a:srgbClr val="FFEB3B"/>
                </a:solidFill>
              </a:rPr>
            </a:br>
            <a:r>
              <a:rPr lang="en-US" sz="4000" dirty="0">
                <a:solidFill>
                  <a:srgbClr val="FFEB3B"/>
                </a:solidFill>
              </a:rPr>
              <a:t>Black-box testing 2</a:t>
            </a:r>
            <a:endParaRPr lang="en-US" sz="4000" dirty="0"/>
          </a:p>
        </p:txBody>
      </p:sp>
      <p:pic>
        <p:nvPicPr>
          <p:cNvPr id="17" name="Picture 16" descr="Shape, polygon&#10;&#10;Description automatically generated">
            <a:extLst>
              <a:ext uri="{FF2B5EF4-FFF2-40B4-BE49-F238E27FC236}">
                <a16:creationId xmlns:a16="http://schemas.microsoft.com/office/drawing/2014/main" id="{558997A6-92B6-FE40-B4A7-0D227FF6F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987" y="1152056"/>
            <a:ext cx="4460026" cy="468443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6F7BA19B-14E9-23A9-4DE3-C670C805D058}"/>
              </a:ext>
            </a:extLst>
          </p:cNvPr>
          <p:cNvSpPr txBox="1">
            <a:spLocks/>
          </p:cNvSpPr>
          <p:nvPr/>
        </p:nvSpPr>
        <p:spPr>
          <a:xfrm>
            <a:off x="408629" y="3886200"/>
            <a:ext cx="6400800" cy="175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FFEB3B"/>
                </a:solidFill>
              </a:rPr>
              <a:t>Author: Avik Mandal</a:t>
            </a:r>
          </a:p>
          <a:p>
            <a:pPr marL="0" indent="0">
              <a:buNone/>
            </a:pPr>
            <a:r>
              <a:rPr lang="en-US" dirty="0">
                <a:solidFill>
                  <a:srgbClr val="FFEB3B"/>
                </a:solidFill>
              </a:rPr>
              <a:t>Modified by: Yuan Feng</a:t>
            </a:r>
          </a:p>
        </p:txBody>
      </p:sp>
    </p:spTree>
    <p:extLst>
      <p:ext uri="{BB962C8B-B14F-4D97-AF65-F5344CB8AC3E}">
        <p14:creationId xmlns:p14="http://schemas.microsoft.com/office/powerpoint/2010/main" val="2479803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ED78A-03DB-E504-D684-CC4399A2F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0C784-9BFE-151E-E764-39BDF0F2B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98E25-EA12-C448-03C6-A4603FA878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1965325"/>
            <a:ext cx="4799542" cy="4194175"/>
          </a:xfrm>
        </p:spPr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2400" dirty="0">
                <a:solidFill>
                  <a:schemeClr val="tx2"/>
                </a:solidFill>
              </a:rPr>
              <a:t>No food and drink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78A04-F329-DD5F-802E-2E15AF2222A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C547A1-07F8-AD98-A859-E31D5BC6A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314" y="2280259"/>
            <a:ext cx="6076325" cy="348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437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F146-09BD-9A4C-AF70-6F99A92E4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B2116-578D-3947-8E60-D9AF5D6E5A9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Extreme point combination (EPC)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Weak nx1 Strategy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Examples covering each technique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A5355-0E3F-D942-B635-91942D1AE58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498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833EA-8A21-B11F-3E58-1FE4188E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E330D-C982-A112-E6D3-2694F1CF0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Extreme Point Combination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0B988-F118-0D5E-EA79-E8F2FA1C375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D9F8FE-C95F-4E12-F5C5-0B63D13E08A1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94BF64-E504-D3C5-E675-C664B8D3235C}"/>
              </a:ext>
            </a:extLst>
          </p:cNvPr>
          <p:cNvSpPr txBox="1">
            <a:spLocks/>
          </p:cNvSpPr>
          <p:nvPr/>
        </p:nvSpPr>
        <p:spPr>
          <a:xfrm>
            <a:off x="542925" y="2117725"/>
            <a:ext cx="11410818" cy="4194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Definition: It involves selecting the minimum, maximum, zero, null, or 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other critical values for each input parameter and creating test cases that 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combine these extreme values. 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Objective: The primary goal is to identify issues that may not surface 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during normal testing but occur when inputs are at their extreme limits.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This includes detecting boundary-related defects and errors due to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interactions between parameters at their extremes.</a:t>
            </a:r>
          </a:p>
        </p:txBody>
      </p:sp>
    </p:spTree>
    <p:extLst>
      <p:ext uri="{BB962C8B-B14F-4D97-AF65-F5344CB8AC3E}">
        <p14:creationId xmlns:p14="http://schemas.microsoft.com/office/powerpoint/2010/main" val="3029039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C28BB-CD94-C4D6-048C-384EC324F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6173C-EC31-D88B-DC0C-5F2271F6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Extreme Point Combination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72905-1620-42DD-0D81-57C72C4B771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1800" dirty="0">
                <a:solidFill>
                  <a:schemeClr val="tx2"/>
                </a:solidFill>
              </a:rPr>
              <a:t>Sample from lecture:</a:t>
            </a:r>
          </a:p>
          <a:p>
            <a:r>
              <a:rPr lang="en-US" sz="1800" dirty="0">
                <a:solidFill>
                  <a:schemeClr val="tx2"/>
                </a:solidFill>
              </a:rPr>
              <a:t>Identify boundaries -&gt; 4</a:t>
            </a:r>
          </a:p>
          <a:p>
            <a:r>
              <a:rPr lang="en-US" sz="1800" dirty="0">
                <a:solidFill>
                  <a:schemeClr val="tx2"/>
                </a:solidFill>
              </a:rPr>
              <a:t>x: min, &lt;min, max, &gt;max</a:t>
            </a:r>
          </a:p>
          <a:p>
            <a:r>
              <a:rPr lang="en-US" sz="1800" dirty="0">
                <a:solidFill>
                  <a:schemeClr val="tx2"/>
                </a:solidFill>
              </a:rPr>
              <a:t>Y: same as above</a:t>
            </a:r>
          </a:p>
          <a:p>
            <a:r>
              <a:rPr lang="en-US" sz="1800" dirty="0">
                <a:solidFill>
                  <a:schemeClr val="tx2"/>
                </a:solidFill>
              </a:rPr>
              <a:t>4*4 + 1 (inside) =17 points </a:t>
            </a:r>
            <a:endParaRPr sz="1800"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1CF3F7-D51B-1D80-BC1D-9609B61A5679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00F03E-7315-A7C5-995D-6C2C4110CAAC}"/>
              </a:ext>
            </a:extLst>
          </p:cNvPr>
          <p:cNvSpPr txBox="1">
            <a:spLocks/>
          </p:cNvSpPr>
          <p:nvPr/>
        </p:nvSpPr>
        <p:spPr>
          <a:xfrm>
            <a:off x="542925" y="2117725"/>
            <a:ext cx="11410818" cy="4194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</p:txBody>
      </p:sp>
      <p:pic>
        <p:nvPicPr>
          <p:cNvPr id="7" name="Picture 6" descr="A black rectangle with red dots and a black line&#10;&#10;AI-generated content may be incorrect.">
            <a:extLst>
              <a:ext uri="{FF2B5EF4-FFF2-40B4-BE49-F238E27FC236}">
                <a16:creationId xmlns:a16="http://schemas.microsoft.com/office/drawing/2014/main" id="{ED3A33A5-83C3-6D82-18E6-793FD219B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827" y="2117725"/>
            <a:ext cx="5462516" cy="352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FC27A-E91E-4248-7E44-2195F935A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74E1-E728-A268-4115-7EE642636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Extreme Point Combination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39253-5DCC-28A2-0499-F199E5CC656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28887A-8F49-6CC3-9BB0-1C59A95388A3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4D7A2A-4473-F62C-53E1-38443D1E5431}"/>
              </a:ext>
            </a:extLst>
          </p:cNvPr>
          <p:cNvSpPr txBox="1">
            <a:spLocks/>
          </p:cNvSpPr>
          <p:nvPr/>
        </p:nvSpPr>
        <p:spPr>
          <a:xfrm>
            <a:off x="542925" y="2117725"/>
            <a:ext cx="11410818" cy="4194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Benefits: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• Effective Detection: Uncovers boundary-related defects efficiently.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• Risk Mitigation: Focuses on high-risk input combinations.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Limitations: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• Not Exhaustive: May miss defects in non-extreme scenarios.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• Complexity: With many parameters, combinations can grow exponentially.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Conclusion: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• Extreme Point Combination Testing is a valuable technique.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• Should be used alongside other testing methods for comprehensive coverage.</a:t>
            </a:r>
          </a:p>
        </p:txBody>
      </p:sp>
    </p:spTree>
    <p:extLst>
      <p:ext uri="{BB962C8B-B14F-4D97-AF65-F5344CB8AC3E}">
        <p14:creationId xmlns:p14="http://schemas.microsoft.com/office/powerpoint/2010/main" val="4187391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28A11-610A-2A37-B356-604DC7DF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8D538-3FE1-6A39-ADA6-C301F26C5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Weak nx1Strategy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E0FF9-6452-3F75-958F-206A2221599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A49D03-BD4B-57A4-7816-6E28BAA96B93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CCDC71-FA78-BF23-11EB-43A24ED20AB7}"/>
              </a:ext>
            </a:extLst>
          </p:cNvPr>
          <p:cNvSpPr txBox="1">
            <a:spLocks/>
          </p:cNvSpPr>
          <p:nvPr/>
        </p:nvSpPr>
        <p:spPr>
          <a:xfrm>
            <a:off x="542925" y="2117725"/>
            <a:ext cx="11410818" cy="4194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•Definition: A testing technique where each of the 'n' input parameters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is tested individually at its extreme values while all other parameters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are held at their nominal (normal) values.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•Objective: To identify defects that occur when individual parameters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are at their extreme values, without considering interactions between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parameters.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•Characteristics: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Tests each parameter in isolation.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Reduces the number of test cases compared to exhaustive testing.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Focuses on boundary values for each parameter.</a:t>
            </a:r>
          </a:p>
        </p:txBody>
      </p:sp>
    </p:spTree>
    <p:extLst>
      <p:ext uri="{BB962C8B-B14F-4D97-AF65-F5344CB8AC3E}">
        <p14:creationId xmlns:p14="http://schemas.microsoft.com/office/powerpoint/2010/main" val="4246149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D4342-3B5C-A5AB-C16B-F9ED9C245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F060F-7877-A66F-D0B8-DFDA93A5F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Weak nx1Strategy: Key Differences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5EFAD-27A7-9F26-611D-D3C890887CD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7926A0-8009-A071-359F-A80E18780AFE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4E51A7D-4D3A-F719-826A-118F81F311BA}"/>
              </a:ext>
            </a:extLst>
          </p:cNvPr>
          <p:cNvSpPr txBox="1">
            <a:spLocks/>
          </p:cNvSpPr>
          <p:nvPr/>
        </p:nvSpPr>
        <p:spPr>
          <a:xfrm>
            <a:off x="542925" y="2117725"/>
            <a:ext cx="11410818" cy="4194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Parameter Interactions: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•EPC Testing: Considers the interactions between multiple parameters at their extreme values. It is designed to uncover defects that only appear when certain combinations of extremes occur.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•Weak n x 1 Testing: Does not consider parameter interactions. It tests the impact of each parameter's extreme value in isolation.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Defect Detection Capability: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•EPC Testing: More effective at finding defects caused by interactions between parameters at their extreme values.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•Weak n x 1 Testing: Efficient at detecting defects related to individual parameters but may miss defects due to parameter interactions.</a:t>
            </a:r>
          </a:p>
        </p:txBody>
      </p:sp>
    </p:spTree>
    <p:extLst>
      <p:ext uri="{BB962C8B-B14F-4D97-AF65-F5344CB8AC3E}">
        <p14:creationId xmlns:p14="http://schemas.microsoft.com/office/powerpoint/2010/main" val="3793904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B6B35-110E-686E-7579-B02B32712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C7CD1-AFAA-1738-1F1C-F18D82C13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A1BF6-7669-76E3-108C-E9D3B36C3FD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41C74E-F0ED-13CD-C6C0-11F3314FB220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7" name="Picture 6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D2290BF2-F265-6E98-D015-ACB989139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41" y="1690688"/>
            <a:ext cx="10969571" cy="408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107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28A2D-67A8-4081-5B4B-9A15B6314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CC8D7-583B-A2EA-E3F2-4EABD1D0C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24D1E-B3A7-FAE9-7C6E-40616DF9F58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6EBD6-19D7-C55F-0F64-1C76B17F51B0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6" name="Picture 5" descr="A table with numbers and equations&#10;&#10;AI-generated content may be incorrect.">
            <a:extLst>
              <a:ext uri="{FF2B5EF4-FFF2-40B4-BE49-F238E27FC236}">
                <a16:creationId xmlns:a16="http://schemas.microsoft.com/office/drawing/2014/main" id="{3D100C7E-90FD-1B3E-F9FC-52AA49618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1579325"/>
            <a:ext cx="11189067" cy="491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097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11829-4A16-3EEA-65F1-B2EE82FC8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BCB9B-8925-6756-9E9D-FF05E150B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A97C5-9FFF-59AA-80B7-815CB06E127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AE27A8-7D6A-C302-B28D-FED7C0E0E001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7" name="Picture 6" descr="A table of math equations&#10;&#10;AI-generated content may be incorrect.">
            <a:extLst>
              <a:ext uri="{FF2B5EF4-FFF2-40B4-BE49-F238E27FC236}">
                <a16:creationId xmlns:a16="http://schemas.microsoft.com/office/drawing/2014/main" id="{2EB76072-6D73-D987-E687-A0EFFEB31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4" y="1663927"/>
            <a:ext cx="10989183" cy="449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388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237852-1560-7A1C-A03F-5CD74193A98A}"/>
              </a:ext>
            </a:extLst>
          </p:cNvPr>
          <p:cNvSpPr txBox="1">
            <a:spLocks/>
          </p:cNvSpPr>
          <p:nvPr/>
        </p:nvSpPr>
        <p:spPr>
          <a:xfrm>
            <a:off x="4210163" y="2549676"/>
            <a:ext cx="5410279" cy="141269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spc="-6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sz="4800" dirty="0">
                <a:solidFill>
                  <a:schemeClr val="tx2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999202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A Palette">
      <a:dk1>
        <a:srgbClr val="000000"/>
      </a:dk1>
      <a:lt1>
        <a:srgbClr val="FFFFFF"/>
      </a:lt1>
      <a:dk2>
        <a:srgbClr val="275D37"/>
      </a:dk2>
      <a:lt2>
        <a:srgbClr val="F1CC00"/>
      </a:lt2>
      <a:accent1>
        <a:srgbClr val="F68D2E"/>
      </a:accent1>
      <a:accent2>
        <a:srgbClr val="E56954"/>
      </a:accent2>
      <a:accent3>
        <a:srgbClr val="C86BA8"/>
      </a:accent3>
      <a:accent4>
        <a:srgbClr val="007933"/>
      </a:accent4>
      <a:accent5>
        <a:srgbClr val="6CC249"/>
      </a:accent5>
      <a:accent6>
        <a:srgbClr val="6BBBAE"/>
      </a:accent6>
      <a:hlink>
        <a:srgbClr val="7BA3DB"/>
      </a:hlink>
      <a:folHlink>
        <a:srgbClr val="FFB6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605</Words>
  <Application>Microsoft Macintosh PowerPoint</Application>
  <PresentationFormat>Widescreen</PresentationFormat>
  <Paragraphs>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Roboto</vt:lpstr>
      <vt:lpstr>Roboto Light</vt:lpstr>
      <vt:lpstr>Office Theme</vt:lpstr>
      <vt:lpstr>ECE 322 LAB 2 Black-box testing 2</vt:lpstr>
      <vt:lpstr>Lab Safety</vt:lpstr>
      <vt:lpstr>Outline</vt:lpstr>
      <vt:lpstr>Extreme Point Combination</vt:lpstr>
      <vt:lpstr>Extreme Point Combination</vt:lpstr>
      <vt:lpstr>Extreme Point Combination</vt:lpstr>
      <vt:lpstr>Weak nx1Strategy</vt:lpstr>
      <vt:lpstr>Weak nx1Strategy: Key Differences</vt:lpstr>
      <vt:lpstr>Example</vt:lpstr>
      <vt:lpstr>Example</vt:lpstr>
      <vt:lpstr>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HERE</dc:title>
  <dc:creator>Microsoft Office User</dc:creator>
  <cp:lastModifiedBy>Yuan Feng</cp:lastModifiedBy>
  <cp:revision>111</cp:revision>
  <dcterms:created xsi:type="dcterms:W3CDTF">2021-08-27T13:13:24Z</dcterms:created>
  <dcterms:modified xsi:type="dcterms:W3CDTF">2025-10-06T22:41:21Z</dcterms:modified>
</cp:coreProperties>
</file>