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4"/>
  </p:notesMasterIdLst>
  <p:sldIdLst>
    <p:sldId id="286" r:id="rId2"/>
    <p:sldId id="305" r:id="rId3"/>
    <p:sldId id="310" r:id="rId4"/>
    <p:sldId id="311" r:id="rId5"/>
    <p:sldId id="318" r:id="rId6"/>
    <p:sldId id="319" r:id="rId7"/>
    <p:sldId id="322" r:id="rId8"/>
    <p:sldId id="321" r:id="rId9"/>
    <p:sldId id="323" r:id="rId10"/>
    <p:sldId id="320" r:id="rId11"/>
    <p:sldId id="324" r:id="rId12"/>
    <p:sldId id="30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75D38"/>
    <a:srgbClr val="F2CD00"/>
    <a:srgbClr val="6CC2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73"/>
    <p:restoredTop sz="96260"/>
  </p:normalViewPr>
  <p:slideViewPr>
    <p:cSldViewPr snapToGrid="0" snapToObjects="1">
      <p:cViewPr varScale="1">
        <p:scale>
          <a:sx n="110" d="100"/>
          <a:sy n="110" d="100"/>
        </p:scale>
        <p:origin x="126" y="49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EDA4FB-FF3E-B74F-8D8A-02FBFF691736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7BEA57-B478-A244-8045-469284E49C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9314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7F52686-6430-0B44-84C4-7041661DE13C}"/>
              </a:ext>
            </a:extLst>
          </p:cNvPr>
          <p:cNvSpPr/>
          <p:nvPr userDrawn="1"/>
        </p:nvSpPr>
        <p:spPr>
          <a:xfrm>
            <a:off x="6087376" y="0"/>
            <a:ext cx="6104623" cy="6858000"/>
          </a:xfrm>
          <a:prstGeom prst="rect">
            <a:avLst/>
          </a:prstGeom>
          <a:solidFill>
            <a:srgbClr val="F2CD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4">
            <a:extLst>
              <a:ext uri="{FF2B5EF4-FFF2-40B4-BE49-F238E27FC236}">
                <a16:creationId xmlns:a16="http://schemas.microsoft.com/office/drawing/2014/main" id="{F89EAE0D-5D30-814F-B7A6-7C8BD2DE40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8629" y="2566609"/>
            <a:ext cx="5410279" cy="1412694"/>
          </a:xfrm>
        </p:spPr>
        <p:txBody>
          <a:bodyPr lIns="0" tIns="0" rIns="0" bIns="0" anchor="t">
            <a:noAutofit/>
          </a:bodyPr>
          <a:lstStyle>
            <a:lvl1pPr>
              <a:lnSpc>
                <a:spcPct val="85000"/>
              </a:lnSpc>
              <a:defRPr sz="5400" b="1" i="0" kern="0" cap="all" spc="-60" baseline="0">
                <a:solidFill>
                  <a:srgbClr val="F2CD00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 HERE</a:t>
            </a:r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3825FBE8-D501-F049-BB8C-2749379953A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599995" y="794695"/>
            <a:ext cx="5079387" cy="5346332"/>
          </a:xfr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962880B-DFD3-D64C-92C3-67B32FFB0A2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07312" y="5876636"/>
            <a:ext cx="2443706" cy="661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8864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F9D906D3-8B7E-1149-8B20-A66E908F15B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0"/>
            <a:ext cx="6089073" cy="6858000"/>
          </a:xfr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12" name="Title 4">
            <a:extLst>
              <a:ext uri="{FF2B5EF4-FFF2-40B4-BE49-F238E27FC236}">
                <a16:creationId xmlns:a16="http://schemas.microsoft.com/office/drawing/2014/main" id="{94D23AA6-1750-3D47-9E0A-6A94907D69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8874" y="2621371"/>
            <a:ext cx="5410279" cy="1615258"/>
          </a:xfrm>
        </p:spPr>
        <p:txBody>
          <a:bodyPr lIns="0" tIns="0" rIns="0" bIns="0" anchor="t">
            <a:noAutofit/>
          </a:bodyPr>
          <a:lstStyle>
            <a:lvl1pPr>
              <a:lnSpc>
                <a:spcPct val="85000"/>
              </a:lnSpc>
              <a:defRPr sz="5400" b="1" i="0" kern="0" cap="all" spc="-60" baseline="0">
                <a:solidFill>
                  <a:srgbClr val="F2CD00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 HERE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800DFB4-9F59-7747-AA09-5658FC269E8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34013" y="5876636"/>
            <a:ext cx="2443706" cy="661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3971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2DD3DC5E-BB1F-CC49-8A6A-15B7AA0596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4374573"/>
          </a:xfr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D3E6B1A-8D98-FD42-A4CA-51E78A48F31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330379" y="5987724"/>
            <a:ext cx="2407631" cy="652067"/>
          </a:xfrm>
          <a:prstGeom prst="rect">
            <a:avLst/>
          </a:prstGeom>
        </p:spPr>
      </p:pic>
      <p:sp>
        <p:nvSpPr>
          <p:cNvPr id="14" name="Title 4">
            <a:extLst>
              <a:ext uri="{FF2B5EF4-FFF2-40B4-BE49-F238E27FC236}">
                <a16:creationId xmlns:a16="http://schemas.microsoft.com/office/drawing/2014/main" id="{920B4C46-B53F-D041-9D91-C4F5B83BC2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5110" y="5024533"/>
            <a:ext cx="5410279" cy="1615258"/>
          </a:xfrm>
        </p:spPr>
        <p:txBody>
          <a:bodyPr lIns="0" tIns="0" rIns="0" bIns="0" anchor="t">
            <a:noAutofit/>
          </a:bodyPr>
          <a:lstStyle>
            <a:lvl1pPr>
              <a:lnSpc>
                <a:spcPct val="85000"/>
              </a:lnSpc>
              <a:defRPr sz="5400" b="1" i="0" kern="0" cap="all" spc="-60" baseline="0">
                <a:solidFill>
                  <a:srgbClr val="275D38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501246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D827D8E9-644D-9348-AE09-62079C534D98}"/>
              </a:ext>
            </a:extLst>
          </p:cNvPr>
          <p:cNvSpPr/>
          <p:nvPr userDrawn="1"/>
        </p:nvSpPr>
        <p:spPr>
          <a:xfrm>
            <a:off x="0" y="0"/>
            <a:ext cx="12192000" cy="1485900"/>
          </a:xfrm>
          <a:prstGeom prst="rect">
            <a:avLst/>
          </a:prstGeom>
          <a:solidFill>
            <a:srgbClr val="F2CD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C4B75D-85A6-A440-A2A4-6BE8238DC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EED9667-564A-9D42-B035-C9F46434330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90525" y="1965325"/>
            <a:ext cx="11410818" cy="4194175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CB782E-AFC9-E44D-BC30-747F09DD175B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535BD11-B08F-2E4E-8A2A-C0A6527C5A21}" type="datetime1">
              <a:rPr lang="en-CA" smtClean="0"/>
              <a:t>2025-11-03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8F5E64-4170-A048-B967-058F83A1D04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3C2586-8877-EF4C-B528-8425113CEA5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1130C78-B4AB-6843-B818-B4CC8CBE361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6891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946ADF0-4FA1-534E-AE2E-0BA9A26A6007}"/>
              </a:ext>
            </a:extLst>
          </p:cNvPr>
          <p:cNvSpPr/>
          <p:nvPr userDrawn="1"/>
        </p:nvSpPr>
        <p:spPr>
          <a:xfrm>
            <a:off x="-12086" y="0"/>
            <a:ext cx="12204086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8DB62A6C-FCD9-F348-BC39-AC4EDF3EDF1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90525" y="1965324"/>
            <a:ext cx="11410883" cy="4194175"/>
          </a:xfrm>
        </p:spPr>
        <p:txBody>
          <a:bodyPr wrap="square"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200" b="1" i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8B36EC-AE6D-7B4C-9149-E278D2EE2F5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1535BD11-B08F-2E4E-8A2A-C0A6527C5A21}" type="datetime1">
              <a:rPr lang="en-CA" smtClean="0"/>
              <a:t>2025-11-03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9F6D64-6CA8-4E46-8078-EB7559BEADB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38C3E2-7AE8-8347-8C47-1414C00CC4C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61130C78-B4AB-6843-B818-B4CC8CBE361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9355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D81B8BA2-1F4B-E349-8B72-C54B055380A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0592" y="1074258"/>
            <a:ext cx="11410816" cy="702587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80000"/>
              </a:lnSpc>
              <a:spcBef>
                <a:spcPts val="400"/>
              </a:spcBef>
              <a:buNone/>
              <a:defRPr sz="5400" b="1" i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Your Title Goes Here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16CEDB-D656-694C-BA91-65ADFC3D288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1535BD11-B08F-2E4E-8A2A-C0A6527C5A21}" type="datetime1">
              <a:rPr lang="en-CA" smtClean="0"/>
              <a:t>2025-11-03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8F6AD3-74BC-6A46-8208-E4646CF992B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8DF7E4-AB1D-AB4F-9EB2-C891920D0267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61130C78-B4AB-6843-B818-B4CC8CBE361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42D10FC0-70CD-F04F-8870-C9881614CD7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90525" y="2340855"/>
            <a:ext cx="11410818" cy="3384535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211995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4176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A96EDDE9-0D4B-A044-A12C-1688B006ED4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90525" y="1965325"/>
            <a:ext cx="11410818" cy="4194175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Google Shape;17;p4">
            <a:extLst>
              <a:ext uri="{FF2B5EF4-FFF2-40B4-BE49-F238E27FC236}">
                <a16:creationId xmlns:a16="http://schemas.microsoft.com/office/drawing/2014/main" id="{9E787EB5-1C41-A34E-8CF2-43A8EB83503C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351487" y="556576"/>
            <a:ext cx="11449855" cy="760977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5400" b="1" i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CA" dirty="0"/>
              <a:t>Your Title Here</a:t>
            </a:r>
            <a:endParaRPr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2EB020-6420-494B-95DB-E9AD8CE0C60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535BD11-B08F-2E4E-8A2A-C0A6527C5A21}" type="datetime1">
              <a:rPr lang="en-CA" smtClean="0"/>
              <a:t>2025-11-03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AE9E22-20D4-F140-900D-D0C4110480B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E52ABC-BFE4-4D47-9151-B99D1850F36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1130C78-B4AB-6843-B818-B4CC8CBE361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1202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EC4BE29-637A-8249-853A-17D0176371B3}"/>
              </a:ext>
            </a:extLst>
          </p:cNvPr>
          <p:cNvSpPr/>
          <p:nvPr userDrawn="1"/>
        </p:nvSpPr>
        <p:spPr>
          <a:xfrm>
            <a:off x="0" y="0"/>
            <a:ext cx="12192000" cy="1485900"/>
          </a:xfrm>
          <a:prstGeom prst="rect">
            <a:avLst/>
          </a:prstGeom>
          <a:solidFill>
            <a:srgbClr val="275D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Google Shape;17;p4">
            <a:extLst>
              <a:ext uri="{FF2B5EF4-FFF2-40B4-BE49-F238E27FC236}">
                <a16:creationId xmlns:a16="http://schemas.microsoft.com/office/drawing/2014/main" id="{7745FA55-A17E-1442-B82C-EB919EC7125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351487" y="556576"/>
            <a:ext cx="11449855" cy="760977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5400" b="1" i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CA" dirty="0"/>
              <a:t>Your Title Here</a:t>
            </a:r>
            <a:endParaRPr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D5C67B29-3361-7044-B10F-1D2880365E0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90525" y="1965325"/>
            <a:ext cx="11410818" cy="4194175"/>
          </a:xfrm>
        </p:spPr>
        <p:txBody>
          <a:bodyPr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060203-9422-4A4A-83AE-9349F3600C5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535BD11-B08F-2E4E-8A2A-C0A6527C5A21}" type="datetime1">
              <a:rPr lang="en-CA" smtClean="0"/>
              <a:t>2025-11-03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531723-859E-6A40-B89A-CAD5E47EDE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C3134F-C888-DF45-9DC4-837B8912078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1130C78-B4AB-6843-B818-B4CC8CBE361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2947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7A04BE0-5C54-8543-A526-3B18831952A1}"/>
              </a:ext>
            </a:extLst>
          </p:cNvPr>
          <p:cNvSpPr/>
          <p:nvPr userDrawn="1"/>
        </p:nvSpPr>
        <p:spPr>
          <a:xfrm>
            <a:off x="6096000" y="0"/>
            <a:ext cx="6104623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ACA2EC1B-7F3B-E243-B93A-7186975219C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6096000" cy="6858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BA4C0F9C-1D5F-D14A-89EC-85CD141784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95960" y="1579417"/>
            <a:ext cx="4178176" cy="3875810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tabLst/>
              <a:defRPr sz="3200" b="0" i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tabLst/>
              <a:defRPr/>
            </a:pPr>
            <a:r>
              <a:rPr lang="en-US" dirty="0"/>
              <a:t>Your Text Goes Here</a:t>
            </a:r>
          </a:p>
          <a:p>
            <a:pPr lvl="0"/>
            <a:r>
              <a:rPr lang="en-US" dirty="0"/>
              <a:t>Your Text Goes Here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615F37-35F6-DA4E-9480-0E302143DAF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1535BD11-B08F-2E4E-8A2A-C0A6527C5A21}" type="datetime1">
              <a:rPr lang="en-CA" smtClean="0"/>
              <a:t>2025-11-03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A362A8-AC39-A24B-A550-5B87DC5173A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9C9496-36B1-9A4E-9804-213B9A36F7CA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61130C78-B4AB-6843-B818-B4CC8CBE361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281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853EC0B4-9DD0-3E42-8433-7FF2BCEBE109}"/>
              </a:ext>
            </a:extLst>
          </p:cNvPr>
          <p:cNvSpPr>
            <a:spLocks noGrp="1"/>
          </p:cNvSpPr>
          <p:nvPr>
            <p:ph type="chart" sz="quarter" idx="10" hasCustomPrompt="1"/>
          </p:nvPr>
        </p:nvSpPr>
        <p:spPr>
          <a:xfrm>
            <a:off x="390591" y="1343279"/>
            <a:ext cx="11383897" cy="4183582"/>
          </a:xfrm>
        </p:spPr>
        <p:txBody>
          <a:bodyPr/>
          <a:lstStyle/>
          <a:p>
            <a:r>
              <a:rPr lang="en-US" dirty="0"/>
              <a:t>Click icon to insert chart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9F9ECB-E455-B648-BC28-63F9169F62E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0591" y="498930"/>
            <a:ext cx="11383897" cy="687387"/>
          </a:xfrm>
        </p:spPr>
        <p:txBody>
          <a:bodyPr lIns="0" tIns="0" rIns="0" bIns="0"/>
          <a:lstStyle>
            <a:lvl1pPr marL="0" indent="0">
              <a:buNone/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Add chart title here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F198B815-91E0-F54F-8DBF-E1E115486F8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1535BD11-B08F-2E4E-8A2A-C0A6527C5A21}" type="datetime1">
              <a:rPr lang="en-CA" smtClean="0"/>
              <a:t>2025-11-03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6D77A3A9-C12D-DA40-8219-2377C498740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B0096DC-00BB-7144-8688-CF3D555BA455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61130C78-B4AB-6843-B818-B4CC8CBE361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3D5752F-93E8-5640-B649-2F69D4E4B4F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0525" y="5688013"/>
            <a:ext cx="11410950" cy="373062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200" b="0" i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 dirty="0"/>
              <a:t>Click to edit chart source text</a:t>
            </a:r>
          </a:p>
        </p:txBody>
      </p:sp>
    </p:spTree>
    <p:extLst>
      <p:ext uri="{BB962C8B-B14F-4D97-AF65-F5344CB8AC3E}">
        <p14:creationId xmlns:p14="http://schemas.microsoft.com/office/powerpoint/2010/main" val="15077843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4176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hart Placeholder 2">
            <a:extLst>
              <a:ext uri="{FF2B5EF4-FFF2-40B4-BE49-F238E27FC236}">
                <a16:creationId xmlns:a16="http://schemas.microsoft.com/office/drawing/2014/main" id="{DBDA81E4-D819-194B-A845-51E77961E251}"/>
              </a:ext>
            </a:extLst>
          </p:cNvPr>
          <p:cNvSpPr>
            <a:spLocks noGrp="1"/>
          </p:cNvSpPr>
          <p:nvPr>
            <p:ph type="chart" sz="quarter" idx="10" hasCustomPrompt="1"/>
          </p:nvPr>
        </p:nvSpPr>
        <p:spPr>
          <a:xfrm>
            <a:off x="390591" y="1343279"/>
            <a:ext cx="11383897" cy="4183582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icon to insert chart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F6B907DA-D648-3848-B281-CF9A84B4C7A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0591" y="498930"/>
            <a:ext cx="11383897" cy="687387"/>
          </a:xfrm>
        </p:spPr>
        <p:txBody>
          <a:bodyPr lIns="0" tIns="0" rIns="0" bIns="0"/>
          <a:lstStyle>
            <a:lvl1pPr marL="0" indent="0">
              <a:buNone/>
              <a:defRPr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Add chart title here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2333AAA-2953-3E42-89E5-E6D6786DA5B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0525" y="5688013"/>
            <a:ext cx="11410950" cy="373062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200">
                <a:solidFill>
                  <a:schemeClr val="bg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 dirty="0"/>
              <a:t>Click to edit chart source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96E9AE-1B93-944F-94E9-92B7D2B39F3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1535BD11-B08F-2E4E-8A2A-C0A6527C5A21}" type="datetime1">
              <a:rPr lang="en-CA" smtClean="0"/>
              <a:t>2025-11-03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6A558C-3CFE-9F45-8C8F-90D0362E71B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8BAD6E-366B-1E4E-B7F4-DD7B00DDA4C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1130C78-B4AB-6843-B818-B4CC8CBE361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80198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4176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 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3962DB7E-0883-7945-8AA8-880B377F4D6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451120" y="1608138"/>
            <a:ext cx="3557298" cy="3327638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730FD155-F064-E242-90C2-6F80336985E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7875" y="1608138"/>
            <a:ext cx="5322888" cy="4168775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2800" b="1" i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ED51F88-AA70-F347-9489-C2435C814DEE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535BD11-B08F-2E4E-8A2A-C0A6527C5A21}" type="datetime1">
              <a:rPr lang="en-CA" smtClean="0"/>
              <a:t>2025-11-03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3F34C8B-A24B-834E-97B0-23FD1B54B1B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8AD62E2-152C-CC4F-89F0-606EC63B930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61130C78-B4AB-6843-B818-B4CC8CBE361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77784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4176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mise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36A1FA5-02DD-3D41-8634-67C3FF4938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34013" y="5876636"/>
            <a:ext cx="2443706" cy="661837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C0132E0B-F5FA-A649-92CF-89A8BABC5B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8654" y="2599170"/>
            <a:ext cx="11516592" cy="1325563"/>
          </a:xfrm>
        </p:spPr>
        <p:txBody>
          <a:bodyPr>
            <a:noAutofit/>
          </a:bodyPr>
          <a:lstStyle>
            <a:lvl1pPr>
              <a:defRPr sz="8900" b="1" i="0" spc="-140" baseline="0">
                <a:solidFill>
                  <a:srgbClr val="F2CD00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Leading with Purpose.</a:t>
            </a:r>
          </a:p>
        </p:txBody>
      </p:sp>
    </p:spTree>
    <p:extLst>
      <p:ext uri="{BB962C8B-B14F-4D97-AF65-F5344CB8AC3E}">
        <p14:creationId xmlns:p14="http://schemas.microsoft.com/office/powerpoint/2010/main" val="19036854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4176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mis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36A1FA5-02DD-3D41-8634-67C3FF4938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34013" y="5876636"/>
            <a:ext cx="2443706" cy="661837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C0132E0B-F5FA-A649-92CF-89A8BABC5B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8654" y="2630343"/>
            <a:ext cx="9137073" cy="1325563"/>
          </a:xfrm>
        </p:spPr>
        <p:txBody>
          <a:bodyPr>
            <a:noAutofit/>
          </a:bodyPr>
          <a:lstStyle>
            <a:lvl1pPr>
              <a:defRPr sz="7200" b="1" i="0" spc="-140" baseline="0">
                <a:solidFill>
                  <a:srgbClr val="F2CD00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Leading with Purpose.</a:t>
            </a:r>
          </a:p>
        </p:txBody>
      </p:sp>
    </p:spTree>
    <p:extLst>
      <p:ext uri="{BB962C8B-B14F-4D97-AF65-F5344CB8AC3E}">
        <p14:creationId xmlns:p14="http://schemas.microsoft.com/office/powerpoint/2010/main" val="14807208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4176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958A413-3734-3C4C-B113-2BB989517A6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330379" y="5906804"/>
            <a:ext cx="2407631" cy="652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106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417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861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6555AB-A659-BD40-978B-F47AA54B1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591" y="365125"/>
            <a:ext cx="1141081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3DCE43-AFF8-8A43-98D1-00F3E9F422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0591" y="1825625"/>
            <a:ext cx="1141348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881EAD-ACA1-FE47-A8A5-C7966E0979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90591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fld id="{1535BD11-B08F-2E4E-8A2A-C0A6527C5A21}" type="datetime1">
              <a:rPr lang="en-CA" smtClean="0"/>
              <a:t>2025-11-03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76E2DD-2D19-1640-A6B3-94C55C6DD8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235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92D2B5-C3DE-A045-A1E5-C92623BB74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28009" y="6356350"/>
            <a:ext cx="2973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fld id="{61130C78-B4AB-6843-B818-B4CC8CBE361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6282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49" r:id="rId2"/>
    <p:sldLayoutId id="2147483650" r:id="rId3"/>
    <p:sldLayoutId id="2147483656" r:id="rId4"/>
    <p:sldLayoutId id="2147483657" r:id="rId5"/>
    <p:sldLayoutId id="2147483663" r:id="rId6"/>
    <p:sldLayoutId id="2147483659" r:id="rId7"/>
    <p:sldLayoutId id="2147483660" r:id="rId8"/>
    <p:sldLayoutId id="2147483661" r:id="rId9"/>
    <p:sldLayoutId id="2147483664" r:id="rId10"/>
    <p:sldLayoutId id="2147483665" r:id="rId11"/>
    <p:sldLayoutId id="2147483666" r:id="rId12"/>
    <p:sldLayoutId id="2147483667" r:id="rId13"/>
    <p:sldLayoutId id="2147483668" r:id="rId14"/>
    <p:sldLayoutId id="2147483670" r:id="rId15"/>
    <p:sldLayoutId id="2147483671" r:id="rId1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 spc="-60" baseline="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F597C-96FF-B44A-9822-1524585BE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629" y="509209"/>
            <a:ext cx="5410279" cy="1412694"/>
          </a:xfrm>
        </p:spPr>
        <p:txBody>
          <a:bodyPr/>
          <a:lstStyle/>
          <a:p>
            <a:r>
              <a:rPr lang="en-US" sz="4000" dirty="0">
                <a:solidFill>
                  <a:srgbClr val="FFEB3B"/>
                </a:solidFill>
              </a:rPr>
              <a:t>ECE 322 INTEGRATION</a:t>
            </a:r>
            <a:br>
              <a:rPr lang="en-US" sz="4000" dirty="0">
                <a:solidFill>
                  <a:srgbClr val="FFEB3B"/>
                </a:solidFill>
              </a:rPr>
            </a:br>
            <a:r>
              <a:rPr lang="en-US" sz="4000" dirty="0">
                <a:solidFill>
                  <a:srgbClr val="FFEB3B"/>
                </a:solidFill>
              </a:rPr>
              <a:t>TESTING</a:t>
            </a:r>
            <a:endParaRPr lang="en-US" sz="4000" dirty="0"/>
          </a:p>
        </p:txBody>
      </p:sp>
      <p:pic>
        <p:nvPicPr>
          <p:cNvPr id="17" name="Picture 16" descr="Shape, polygon&#10;&#10;Description automatically generated">
            <a:extLst>
              <a:ext uri="{FF2B5EF4-FFF2-40B4-BE49-F238E27FC236}">
                <a16:creationId xmlns:a16="http://schemas.microsoft.com/office/drawing/2014/main" id="{558997A6-92B6-FE40-B4A7-0D227FF6FA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3987" y="1152056"/>
            <a:ext cx="4460026" cy="4684430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6F7BA19B-14E9-23A9-4DE3-C670C805D058}"/>
              </a:ext>
            </a:extLst>
          </p:cNvPr>
          <p:cNvSpPr txBox="1">
            <a:spLocks/>
          </p:cNvSpPr>
          <p:nvPr/>
        </p:nvSpPr>
        <p:spPr>
          <a:xfrm>
            <a:off x="408629" y="3886200"/>
            <a:ext cx="6400800" cy="17526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rgbClr val="FFEB3B"/>
                </a:solidFill>
              </a:rPr>
              <a:t>Author: Avik Mandal</a:t>
            </a:r>
          </a:p>
          <a:p>
            <a:pPr marL="0" indent="0">
              <a:buNone/>
            </a:pPr>
            <a:r>
              <a:rPr lang="en-US" dirty="0">
                <a:solidFill>
                  <a:srgbClr val="FFEB3B"/>
                </a:solidFill>
              </a:rPr>
              <a:t>Modified by: Yuan Feng</a:t>
            </a:r>
          </a:p>
        </p:txBody>
      </p:sp>
    </p:spTree>
    <p:extLst>
      <p:ext uri="{BB962C8B-B14F-4D97-AF65-F5344CB8AC3E}">
        <p14:creationId xmlns:p14="http://schemas.microsoft.com/office/powerpoint/2010/main" val="24798035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3F146-09BD-9A4C-AF70-6F99A92E4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2B2116-578D-3947-8E60-D9AF5D6E5A9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rPr lang="en-US" dirty="0">
                <a:solidFill>
                  <a:schemeClr val="tx2"/>
                </a:solidFill>
              </a:rPr>
              <a:t>Integration testing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lang="en-US" dirty="0">
                <a:solidFill>
                  <a:schemeClr val="tx2"/>
                </a:solidFill>
              </a:rPr>
              <a:t>Big-bang Testing (non-incremental)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lang="en-US" dirty="0">
                <a:solidFill>
                  <a:schemeClr val="tx2"/>
                </a:solidFill>
              </a:rPr>
              <a:t>Incremental Testing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9A5355-0E3F-D942-B635-91942D1AE58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1130C78-B4AB-6843-B818-B4CC8CBE3619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44987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833EA-8A21-B11F-3E58-1FE4188E0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E330D-C982-A112-E6D3-2694F1CF0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Integration Testing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0B988-F118-0D5E-EA79-E8F2FA1C375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dirty="0"/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dirty="0"/>
              <a:t>Divide inputs into logical groups.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dirty="0"/>
              <a:t>Test one input per group.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rPr dirty="0"/>
              <a:t>Example: Positive, negative, zero integers.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D9F8FE-C95F-4E12-F5C5-0B63D13E08A1}"/>
              </a:ext>
            </a:extLst>
          </p:cNvPr>
          <p:cNvSpPr txBox="1"/>
          <p:nvPr/>
        </p:nvSpPr>
        <p:spPr>
          <a:xfrm>
            <a:off x="9753600" y="6309361"/>
            <a:ext cx="34176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494BF64-E504-D3C5-E675-C664B8D3235C}"/>
              </a:ext>
            </a:extLst>
          </p:cNvPr>
          <p:cNvSpPr txBox="1">
            <a:spLocks/>
          </p:cNvSpPr>
          <p:nvPr/>
        </p:nvSpPr>
        <p:spPr>
          <a:xfrm>
            <a:off x="542925" y="2117725"/>
            <a:ext cx="8487864" cy="41941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 sz="1800">
                <a:solidFill>
                  <a:srgbClr val="FFFFFF"/>
                </a:solidFill>
              </a:defRPr>
            </a:pPr>
            <a:r>
              <a:rPr lang="en-US" sz="1800" dirty="0">
                <a:solidFill>
                  <a:schemeClr val="tx2"/>
                </a:solidFill>
              </a:rPr>
              <a:t>Definition: Integration testing examines the interactions between software modules to ensure they work together as expected.</a:t>
            </a:r>
          </a:p>
          <a:p>
            <a:pPr marL="0" indent="0">
              <a:buNone/>
              <a:defRPr sz="1800">
                <a:solidFill>
                  <a:srgbClr val="FFFFFF"/>
                </a:solidFill>
              </a:defRPr>
            </a:pPr>
            <a:endParaRPr lang="en-US" sz="1800" dirty="0">
              <a:solidFill>
                <a:schemeClr val="tx2"/>
              </a:solidFill>
            </a:endParaRPr>
          </a:p>
          <a:p>
            <a:pPr marL="0" indent="0">
              <a:buNone/>
              <a:defRPr sz="1800">
                <a:solidFill>
                  <a:srgbClr val="FFFFFF"/>
                </a:solidFill>
              </a:defRPr>
            </a:pPr>
            <a:r>
              <a:rPr lang="en-US" sz="1800" dirty="0">
                <a:solidFill>
                  <a:schemeClr val="tx2"/>
                </a:solidFill>
              </a:rPr>
              <a:t>When: After unit testing, when individual components have been validated but need to be tested in combination.</a:t>
            </a:r>
          </a:p>
        </p:txBody>
      </p:sp>
    </p:spTree>
    <p:extLst>
      <p:ext uri="{BB962C8B-B14F-4D97-AF65-F5344CB8AC3E}">
        <p14:creationId xmlns:p14="http://schemas.microsoft.com/office/powerpoint/2010/main" val="30290391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CC28BB-CD94-C4D6-048C-384EC324F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6173C-EC31-D88B-DC0C-5F2271F65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Integration Testing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1CF3F7-D51B-1D80-BC1D-9609B61A5679}"/>
              </a:ext>
            </a:extLst>
          </p:cNvPr>
          <p:cNvSpPr txBox="1"/>
          <p:nvPr/>
        </p:nvSpPr>
        <p:spPr>
          <a:xfrm>
            <a:off x="9753600" y="6309361"/>
            <a:ext cx="34176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600F03E-7315-A7C5-995D-6C2C4110CAAC}"/>
              </a:ext>
            </a:extLst>
          </p:cNvPr>
          <p:cNvSpPr txBox="1">
            <a:spLocks/>
          </p:cNvSpPr>
          <p:nvPr/>
        </p:nvSpPr>
        <p:spPr>
          <a:xfrm>
            <a:off x="542925" y="2117725"/>
            <a:ext cx="11410818" cy="41941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 sz="1800">
                <a:solidFill>
                  <a:srgbClr val="FFFFFF"/>
                </a:solidFill>
              </a:defRPr>
            </a:pPr>
            <a:endParaRPr lang="en-US" sz="1800" dirty="0">
              <a:solidFill>
                <a:schemeClr val="tx2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30F4475-1D5A-CFB5-694F-2404ADAFF33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C4C0116-5EFE-1DCB-AB88-B07D6488EB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525" y="1840549"/>
            <a:ext cx="10507541" cy="4277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62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3C9E5-9EDD-EA7A-78E3-E9D42FED8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D23A7-0F9D-D1DF-EE97-B05F5F6C0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Big Bang</a:t>
            </a:r>
            <a:r>
              <a:rPr lang="en-CA" dirty="0"/>
              <a:t> Testing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3D2773-80AB-9F07-DBCB-68854788BD07}"/>
              </a:ext>
            </a:extLst>
          </p:cNvPr>
          <p:cNvSpPr txBox="1"/>
          <p:nvPr/>
        </p:nvSpPr>
        <p:spPr>
          <a:xfrm>
            <a:off x="9753600" y="6309361"/>
            <a:ext cx="34176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444E07D-2B32-5E5B-6F8C-E9C82029FEE8}"/>
              </a:ext>
            </a:extLst>
          </p:cNvPr>
          <p:cNvSpPr txBox="1">
            <a:spLocks/>
          </p:cNvSpPr>
          <p:nvPr/>
        </p:nvSpPr>
        <p:spPr>
          <a:xfrm>
            <a:off x="542925" y="2117725"/>
            <a:ext cx="11410818" cy="41941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 sz="1800">
                <a:solidFill>
                  <a:srgbClr val="FFFFFF"/>
                </a:solidFill>
              </a:defRPr>
            </a:pPr>
            <a:endParaRPr lang="en-US" sz="1800" dirty="0">
              <a:solidFill>
                <a:schemeClr val="tx2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D32983A-0284-49D9-0009-76019772325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Definition: All (or most) modules are integrated simultaneously, and the system is tested as a whole.</a:t>
            </a:r>
          </a:p>
          <a:p>
            <a:r>
              <a:rPr lang="en-US" dirty="0"/>
              <a:t>When used: Small projects or when incremental integration is impractical.</a:t>
            </a:r>
          </a:p>
          <a:p>
            <a:r>
              <a:rPr lang="en-US" dirty="0"/>
              <a:t>Pros: Simple and quick</a:t>
            </a:r>
          </a:p>
          <a:p>
            <a:r>
              <a:rPr lang="en-US" dirty="0"/>
              <a:t>Cons: Fault isolation is hard, high debugging effort</a:t>
            </a:r>
          </a:p>
        </p:txBody>
      </p:sp>
    </p:spTree>
    <p:extLst>
      <p:ext uri="{BB962C8B-B14F-4D97-AF65-F5344CB8AC3E}">
        <p14:creationId xmlns:p14="http://schemas.microsoft.com/office/powerpoint/2010/main" val="40951842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09A77-CD6A-A00D-EF32-3EB2E17F7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CF96B-507F-BCB5-BA2C-C9A7D1F5F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Incremental Testing</a:t>
            </a:r>
            <a:r>
              <a:rPr lang="en-US" dirty="0"/>
              <a:t>: Top-Down vs Bottom-Up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E70439-AC40-6EE5-6D10-BB4716CA854F}"/>
              </a:ext>
            </a:extLst>
          </p:cNvPr>
          <p:cNvSpPr txBox="1"/>
          <p:nvPr/>
        </p:nvSpPr>
        <p:spPr>
          <a:xfrm>
            <a:off x="9753600" y="6309361"/>
            <a:ext cx="34176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84291CB-1B9C-A738-F214-27A2B9784573}"/>
              </a:ext>
            </a:extLst>
          </p:cNvPr>
          <p:cNvSpPr txBox="1">
            <a:spLocks/>
          </p:cNvSpPr>
          <p:nvPr/>
        </p:nvSpPr>
        <p:spPr>
          <a:xfrm>
            <a:off x="542925" y="2117725"/>
            <a:ext cx="11410818" cy="41941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 sz="1800">
                <a:solidFill>
                  <a:srgbClr val="FFFFFF"/>
                </a:solidFill>
              </a:defRPr>
            </a:pPr>
            <a:endParaRPr lang="en-US" sz="1800" dirty="0">
              <a:solidFill>
                <a:schemeClr val="tx2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0B96F2F-43A5-1FF6-7837-C117A4D4FB7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Top-Down Integration</a:t>
            </a:r>
          </a:p>
          <a:p>
            <a:r>
              <a:rPr lang="en-US" dirty="0"/>
              <a:t>Approach: Integrate and test higher-level modules first, then move down the hierarchy.</a:t>
            </a:r>
          </a:p>
          <a:p>
            <a:r>
              <a:rPr lang="en-US" dirty="0"/>
              <a:t>Test Double: Use stubs to simulate lower-level modules not yet built.</a:t>
            </a:r>
          </a:p>
          <a:p>
            <a:r>
              <a:rPr lang="en-US" dirty="0"/>
              <a:t>Good for: Early stage when lower layers aren’t ready.</a:t>
            </a:r>
          </a:p>
          <a:p>
            <a:r>
              <a:rPr lang="en-US" dirty="0"/>
              <a:t>Drawbacks: Low-level utilities get tested later</a:t>
            </a:r>
          </a:p>
        </p:txBody>
      </p:sp>
    </p:spTree>
    <p:extLst>
      <p:ext uri="{BB962C8B-B14F-4D97-AF65-F5344CB8AC3E}">
        <p14:creationId xmlns:p14="http://schemas.microsoft.com/office/powerpoint/2010/main" val="947657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D69B5-62C4-4F7D-BBD1-9379CB326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0F824-4281-A5DC-55FD-0FB0D4B6D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Incremental Testing</a:t>
            </a:r>
            <a:r>
              <a:rPr lang="en-US" dirty="0"/>
              <a:t>: Top-Down vs Bottom-Up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9C3A17-35C7-21A8-FFDB-82186990256C}"/>
              </a:ext>
            </a:extLst>
          </p:cNvPr>
          <p:cNvSpPr txBox="1"/>
          <p:nvPr/>
        </p:nvSpPr>
        <p:spPr>
          <a:xfrm>
            <a:off x="9753600" y="6309361"/>
            <a:ext cx="34176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BBA3FEB-0650-A809-BD30-3EBD436F43C8}"/>
              </a:ext>
            </a:extLst>
          </p:cNvPr>
          <p:cNvSpPr txBox="1">
            <a:spLocks/>
          </p:cNvSpPr>
          <p:nvPr/>
        </p:nvSpPr>
        <p:spPr>
          <a:xfrm>
            <a:off x="542925" y="2117725"/>
            <a:ext cx="11410818" cy="41941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 sz="1800">
                <a:solidFill>
                  <a:srgbClr val="FFFFFF"/>
                </a:solidFill>
              </a:defRPr>
            </a:pPr>
            <a:endParaRPr lang="en-US" sz="1800" dirty="0">
              <a:solidFill>
                <a:schemeClr val="tx2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3AD79A9-59CC-FFBB-D803-4ADC724E1FA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Stubs: A small code to replace called functions</a:t>
            </a:r>
          </a:p>
        </p:txBody>
      </p:sp>
    </p:spTree>
    <p:extLst>
      <p:ext uri="{BB962C8B-B14F-4D97-AF65-F5344CB8AC3E}">
        <p14:creationId xmlns:p14="http://schemas.microsoft.com/office/powerpoint/2010/main" val="10456923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71330B-911B-891E-ABE0-B69969859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40399-EB5E-D83A-A4D2-11558C338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Incremental Testing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025B6D-BBCC-862F-CA13-EADE0F0096D2}"/>
              </a:ext>
            </a:extLst>
          </p:cNvPr>
          <p:cNvSpPr txBox="1"/>
          <p:nvPr/>
        </p:nvSpPr>
        <p:spPr>
          <a:xfrm>
            <a:off x="9753600" y="6309361"/>
            <a:ext cx="34176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4074AC6-20E7-2593-306C-DFC40D86A04E}"/>
              </a:ext>
            </a:extLst>
          </p:cNvPr>
          <p:cNvSpPr txBox="1">
            <a:spLocks/>
          </p:cNvSpPr>
          <p:nvPr/>
        </p:nvSpPr>
        <p:spPr>
          <a:xfrm>
            <a:off x="542925" y="2117725"/>
            <a:ext cx="11410818" cy="41941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 sz="1800">
                <a:solidFill>
                  <a:srgbClr val="FFFFFF"/>
                </a:solidFill>
              </a:defRPr>
            </a:pPr>
            <a:endParaRPr lang="en-US" sz="1800" dirty="0">
              <a:solidFill>
                <a:schemeClr val="tx2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5695EC1-A63F-CDC4-6C74-05DDF10FC30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Bottom-Up Integration</a:t>
            </a:r>
          </a:p>
          <a:p>
            <a:r>
              <a:rPr lang="en-US" dirty="0"/>
              <a:t>Approach: Integrate and test lower-level modules first, then assemble upwards.</a:t>
            </a:r>
          </a:p>
          <a:p>
            <a:r>
              <a:rPr lang="en-US" dirty="0"/>
              <a:t>Test Double: Use drivers to simulate higher-level callers.</a:t>
            </a:r>
          </a:p>
          <a:p>
            <a:r>
              <a:rPr lang="en-US" dirty="0"/>
              <a:t>Good for: Early stage when top layers aren’t ready.</a:t>
            </a:r>
          </a:p>
          <a:p>
            <a:r>
              <a:rPr lang="en-US" dirty="0"/>
              <a:t>Drawbacks: System-level behavior seen late; many drivers may be needed.</a:t>
            </a:r>
          </a:p>
        </p:txBody>
      </p:sp>
    </p:spTree>
    <p:extLst>
      <p:ext uri="{BB962C8B-B14F-4D97-AF65-F5344CB8AC3E}">
        <p14:creationId xmlns:p14="http://schemas.microsoft.com/office/powerpoint/2010/main" val="29234638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D8B30-9747-19CA-1BEE-7664504F5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66952-9C64-6C77-84FB-AF59E21FB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Incremental Testing</a:t>
            </a:r>
            <a:r>
              <a:rPr lang="en-US" dirty="0"/>
              <a:t>: Top-Down vs Bottom-Up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021020-AE88-8881-9C88-678EB712F0D6}"/>
              </a:ext>
            </a:extLst>
          </p:cNvPr>
          <p:cNvSpPr txBox="1"/>
          <p:nvPr/>
        </p:nvSpPr>
        <p:spPr>
          <a:xfrm>
            <a:off x="9753600" y="6309361"/>
            <a:ext cx="34176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617ED89-5DB7-A66B-AB4C-09A8ED564271}"/>
              </a:ext>
            </a:extLst>
          </p:cNvPr>
          <p:cNvSpPr txBox="1">
            <a:spLocks/>
          </p:cNvSpPr>
          <p:nvPr/>
        </p:nvSpPr>
        <p:spPr>
          <a:xfrm>
            <a:off x="542925" y="2117725"/>
            <a:ext cx="11410818" cy="41941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 sz="1800">
                <a:solidFill>
                  <a:srgbClr val="FFFFFF"/>
                </a:solidFill>
              </a:defRPr>
            </a:pPr>
            <a:endParaRPr lang="en-US" sz="1800" dirty="0">
              <a:solidFill>
                <a:schemeClr val="tx2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5051842-3F93-C4F4-B93A-CB1C9C8ADEA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Driver: A small code to replace caller functions</a:t>
            </a:r>
          </a:p>
        </p:txBody>
      </p:sp>
    </p:spTree>
    <p:extLst>
      <p:ext uri="{BB962C8B-B14F-4D97-AF65-F5344CB8AC3E}">
        <p14:creationId xmlns:p14="http://schemas.microsoft.com/office/powerpoint/2010/main" val="39425683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7F1462-D7DB-CCB2-E34F-1DA3198C7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AC914-737C-1C1D-E568-BCCF596E3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2D06ED-549C-07F5-EE56-550653E13C15}"/>
              </a:ext>
            </a:extLst>
          </p:cNvPr>
          <p:cNvSpPr txBox="1"/>
          <p:nvPr/>
        </p:nvSpPr>
        <p:spPr>
          <a:xfrm>
            <a:off x="9753600" y="6309361"/>
            <a:ext cx="34176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E2A8BD3-AF64-2D31-3EB0-A72705449584}"/>
              </a:ext>
            </a:extLst>
          </p:cNvPr>
          <p:cNvSpPr txBox="1">
            <a:spLocks/>
          </p:cNvSpPr>
          <p:nvPr/>
        </p:nvSpPr>
        <p:spPr>
          <a:xfrm>
            <a:off x="542925" y="2117725"/>
            <a:ext cx="11410818" cy="41941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 sz="1800">
                <a:solidFill>
                  <a:srgbClr val="FFFFFF"/>
                </a:solidFill>
              </a:defRPr>
            </a:pPr>
            <a:endParaRPr lang="en-US" sz="1800" dirty="0">
              <a:solidFill>
                <a:schemeClr val="tx2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3B6545C-4513-9824-ADAF-65A6EEE7121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A 3-layer application </a:t>
            </a:r>
          </a:p>
          <a:p>
            <a:r>
              <a:rPr lang="en-US" dirty="0"/>
              <a:t>Big Bang testing: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1281C95-179A-3A7F-2DAA-FE7339A961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1489" y="1812925"/>
            <a:ext cx="3497584" cy="187080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37E808A-0BF9-0E9A-846F-6F63F7CE47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" y="2949453"/>
            <a:ext cx="3052413" cy="328497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A316321-525C-90C1-AAAA-8CB0EC698D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7978" y="2949453"/>
            <a:ext cx="4201111" cy="2743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228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DE973-9BD6-1531-5A19-4BA6A6101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53D52-44B1-3866-F3A6-A7B032BB6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D5C54C-A794-C64C-BC04-D017A15CC246}"/>
              </a:ext>
            </a:extLst>
          </p:cNvPr>
          <p:cNvSpPr txBox="1"/>
          <p:nvPr/>
        </p:nvSpPr>
        <p:spPr>
          <a:xfrm>
            <a:off x="9753600" y="6309361"/>
            <a:ext cx="34176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9700FE4-D106-0015-6604-95BD6D843552}"/>
              </a:ext>
            </a:extLst>
          </p:cNvPr>
          <p:cNvSpPr txBox="1">
            <a:spLocks/>
          </p:cNvSpPr>
          <p:nvPr/>
        </p:nvSpPr>
        <p:spPr>
          <a:xfrm>
            <a:off x="542925" y="2117725"/>
            <a:ext cx="11410818" cy="41941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 sz="1800">
                <a:solidFill>
                  <a:srgbClr val="FFFFFF"/>
                </a:solidFill>
              </a:defRPr>
            </a:pPr>
            <a:endParaRPr lang="en-US" sz="1800" dirty="0">
              <a:solidFill>
                <a:schemeClr val="tx2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BFFE262-ADEB-C9D3-2165-D3377E4D6B4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A 3-layer application </a:t>
            </a:r>
          </a:p>
          <a:p>
            <a:r>
              <a:rPr lang="en-US" dirty="0"/>
              <a:t>Top-down testing: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A94FEAD-C7F0-5F2F-146D-BA0EE2C746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925" y="2949453"/>
            <a:ext cx="3052413" cy="328497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8011BEC-8688-EC61-C879-7B3716C4B3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5338" y="2949453"/>
            <a:ext cx="4092593" cy="224770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E9CEC9B-4D92-CAFF-7579-EABBEA8F82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7931" y="2949453"/>
            <a:ext cx="3871902" cy="2247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2627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8237852-1560-7A1C-A03F-5CD74193A98A}"/>
              </a:ext>
            </a:extLst>
          </p:cNvPr>
          <p:cNvSpPr txBox="1">
            <a:spLocks/>
          </p:cNvSpPr>
          <p:nvPr/>
        </p:nvSpPr>
        <p:spPr>
          <a:xfrm>
            <a:off x="4210163" y="2549676"/>
            <a:ext cx="5410279" cy="141269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 spc="-60" baseline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sz="4800" dirty="0">
                <a:solidFill>
                  <a:schemeClr val="tx2"/>
                </a:solidFill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9992028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A Palette">
      <a:dk1>
        <a:srgbClr val="000000"/>
      </a:dk1>
      <a:lt1>
        <a:srgbClr val="FFFFFF"/>
      </a:lt1>
      <a:dk2>
        <a:srgbClr val="275D37"/>
      </a:dk2>
      <a:lt2>
        <a:srgbClr val="F1CC00"/>
      </a:lt2>
      <a:accent1>
        <a:srgbClr val="F68D2E"/>
      </a:accent1>
      <a:accent2>
        <a:srgbClr val="E56954"/>
      </a:accent2>
      <a:accent3>
        <a:srgbClr val="C86BA8"/>
      </a:accent3>
      <a:accent4>
        <a:srgbClr val="007933"/>
      </a:accent4>
      <a:accent5>
        <a:srgbClr val="6CC249"/>
      </a:accent5>
      <a:accent6>
        <a:srgbClr val="6BBBAE"/>
      </a:accent6>
      <a:hlink>
        <a:srgbClr val="7BA3DB"/>
      </a:hlink>
      <a:folHlink>
        <a:srgbClr val="FFB6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679</TotalTime>
  <Words>302</Words>
  <Application>Microsoft Office PowerPoint</Application>
  <PresentationFormat>Widescreen</PresentationFormat>
  <Paragraphs>54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Roboto</vt:lpstr>
      <vt:lpstr>Roboto Light</vt:lpstr>
      <vt:lpstr>Office Theme</vt:lpstr>
      <vt:lpstr>ECE 322 INTEGRATION TESTING</vt:lpstr>
      <vt:lpstr>Outline</vt:lpstr>
      <vt:lpstr>Integration Testing</vt:lpstr>
      <vt:lpstr>Types of Integration Testing</vt:lpstr>
      <vt:lpstr>Big Bang Testing</vt:lpstr>
      <vt:lpstr>Incremental Testing: Top-Down vs Bottom-Up</vt:lpstr>
      <vt:lpstr>Incremental Testing: Top-Down vs Bottom-Up</vt:lpstr>
      <vt:lpstr>Incremental Testing</vt:lpstr>
      <vt:lpstr>Incremental Testing: Top-Down vs Bottom-Up</vt:lpstr>
      <vt:lpstr>Sample</vt:lpstr>
      <vt:lpstr>Sample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 HERE</dc:title>
  <dc:creator>Microsoft Office User</dc:creator>
  <cp:lastModifiedBy>Yuan Feng</cp:lastModifiedBy>
  <cp:revision>134</cp:revision>
  <dcterms:created xsi:type="dcterms:W3CDTF">2021-08-27T13:13:24Z</dcterms:created>
  <dcterms:modified xsi:type="dcterms:W3CDTF">2025-11-03T23:04:31Z</dcterms:modified>
</cp:coreProperties>
</file>